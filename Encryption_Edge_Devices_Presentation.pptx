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3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178E46-4AE9-E0F2-C097-3F2FD5C192A0}" v="504" dt="2026-04-28T04:11:43.6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7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alsa20#ChaCha_variant" TargetMode="External"/><Relationship Id="rId2" Type="http://schemas.openxmlformats.org/officeDocument/2006/relationships/hyperlink" Target="https://en.wikipedia.org/wiki/Advanced_Encryption_Standard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en.wikipedia.org/wiki/PRESENT_(cipher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717638"/>
            <a:ext cx="1069848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66165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1E1E"/>
                </a:solidFill>
                <a:latin typeface="Times New Roman"/>
              </a:defRPr>
            </a:pPr>
            <a:r>
              <a:t>Performance Evaluation of Encryption</a:t>
            </a:r>
            <a:br/>
            <a:r>
              <a:t>Algorithms on Edge Devices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3944" y="1841351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563EB"/>
                </a:solidFill>
                <a:latin typeface="Times New Roman"/>
              </a:defRPr>
            </a:pPr>
            <a:r>
              <a:t>AES-256-GCM  |  ChaCha20-Poly1305  |  PRESENT  |  SPECK-64/128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4C3961-57C9-72F6-0CF3-D73489DD4BF9}"/>
              </a:ext>
            </a:extLst>
          </p:cNvPr>
          <p:cNvSpPr txBox="1"/>
          <p:nvPr/>
        </p:nvSpPr>
        <p:spPr>
          <a:xfrm>
            <a:off x="2043444" y="-36182"/>
            <a:ext cx="7572944" cy="10097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IN" sz="2800" b="1">
                <a:latin typeface="Times New Roman"/>
                <a:cs typeface="Times New Roman"/>
              </a:rPr>
              <a:t>23CSE312 Distributed Systems </a:t>
            </a:r>
            <a:endParaRPr lang="en-GB" sz="2800" b="1">
              <a:latin typeface="Times New Roman"/>
              <a:cs typeface="Times New Roman"/>
            </a:endParaRPr>
          </a:p>
          <a:p>
            <a:pPr algn="ctr"/>
            <a:endParaRPr lang="en-GB" sz="1400" b="1" dirty="0">
              <a:latin typeface="Times New Roman"/>
              <a:cs typeface="Times New Roman"/>
            </a:endParaRPr>
          </a:p>
          <a:p>
            <a:pPr algn="ctr"/>
            <a:endParaRPr lang="en-US" b="1" dirty="0">
              <a:ea typeface="Calibri"/>
              <a:cs typeface="Calibri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B2AD620-20B4-C065-FB20-9F44A703D6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866827"/>
              </p:ext>
            </p:extLst>
          </p:nvPr>
        </p:nvGraphicFramePr>
        <p:xfrm>
          <a:off x="1810870" y="2617694"/>
          <a:ext cx="8225531" cy="232693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93161">
                  <a:extLst>
                    <a:ext uri="{9D8B030D-6E8A-4147-A177-3AD203B41FA5}">
                      <a16:colId xmlns:a16="http://schemas.microsoft.com/office/drawing/2014/main" val="2418392335"/>
                    </a:ext>
                  </a:extLst>
                </a:gridCol>
                <a:gridCol w="2332196">
                  <a:extLst>
                    <a:ext uri="{9D8B030D-6E8A-4147-A177-3AD203B41FA5}">
                      <a16:colId xmlns:a16="http://schemas.microsoft.com/office/drawing/2014/main" val="938963659"/>
                    </a:ext>
                  </a:extLst>
                </a:gridCol>
                <a:gridCol w="3866338">
                  <a:extLst>
                    <a:ext uri="{9D8B030D-6E8A-4147-A177-3AD203B41FA5}">
                      <a16:colId xmlns:a16="http://schemas.microsoft.com/office/drawing/2014/main" val="3098588841"/>
                    </a:ext>
                  </a:extLst>
                </a:gridCol>
                <a:gridCol w="1233836">
                  <a:extLst>
                    <a:ext uri="{9D8B030D-6E8A-4147-A177-3AD203B41FA5}">
                      <a16:colId xmlns:a16="http://schemas.microsoft.com/office/drawing/2014/main" val="4081599170"/>
                    </a:ext>
                  </a:extLst>
                </a:gridCol>
              </a:tblGrid>
              <a:tr h="73091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6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S.No</a:t>
                      </a:r>
                      <a:endParaRPr lang="en-US" b="0" i="0" err="1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Reg.No</a:t>
                      </a:r>
                      <a:endParaRPr lang="en-US" b="0" i="0" dirty="0" err="1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Name of the Student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Section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1856592"/>
                  </a:ext>
                </a:extLst>
              </a:tr>
              <a:tr h="38543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BL.EN.U4CSE23211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Bandaru Ram Jayadeep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CSE C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737332"/>
                  </a:ext>
                </a:extLst>
              </a:tr>
              <a:tr h="358848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BL.EN.U4CSE23241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Padala Siva Rama Krishna Reddy</a:t>
                      </a: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CSE C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614587"/>
                  </a:ext>
                </a:extLst>
              </a:tr>
              <a:tr h="39872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BL.EN.U4CSE23244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Pathem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Ashwak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Patel</a:t>
                      </a: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CSE C</a:t>
                      </a:r>
                    </a:p>
                    <a:p>
                      <a:pPr lvl="0" algn="ctr">
                        <a:lnSpc>
                          <a:spcPts val="1200"/>
                        </a:lnSpc>
                        <a:buNone/>
                      </a:pP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87733"/>
                  </a:ext>
                </a:extLst>
              </a:tr>
              <a:tr h="451883">
                <a:tc>
                  <a:txBody>
                    <a:bodyPr/>
                    <a:lstStyle/>
                    <a:p>
                      <a:pPr lvl="0" algn="ctr">
                        <a:lnSpc>
                          <a:spcPts val="1200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200"/>
                        </a:lnSpc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BL.EN.U4CSE23247</a:t>
                      </a:r>
                      <a:endParaRPr lang="en-US"/>
                    </a:p>
                  </a:txBody>
                  <a:tcPr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200"/>
                        </a:lnSpc>
                        <a:buNone/>
                      </a:pP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Reddim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Thoshan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Reddy</a:t>
                      </a:r>
                    </a:p>
                  </a:txBody>
                  <a:tcPr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200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CSE C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91492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11788B2-8A98-3A8C-38AE-D26C0F8EA9CA}"/>
              </a:ext>
            </a:extLst>
          </p:cNvPr>
          <p:cNvSpPr txBox="1"/>
          <p:nvPr/>
        </p:nvSpPr>
        <p:spPr>
          <a:xfrm>
            <a:off x="735106" y="2120153"/>
            <a:ext cx="6096000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i="0" u="none" strike="noStrike" baseline="0" dirty="0" err="1">
                <a:solidFill>
                  <a:srgbClr val="000000"/>
                </a:solidFill>
                <a:latin typeface="Times New Roman"/>
              </a:rPr>
              <a:t>Team_No</a:t>
            </a:r>
            <a:r>
              <a:rPr lang="en-US" sz="1600" b="1" i="0" u="none" strike="noStrike" baseline="0" dirty="0">
                <a:solidFill>
                  <a:srgbClr val="000000"/>
                </a:solidFill>
                <a:latin typeface="Times New Roman"/>
              </a:rPr>
              <a:t>: </a:t>
            </a:r>
            <a:r>
              <a:rPr lang="en-US" sz="1600" b="1" dirty="0">
                <a:solidFill>
                  <a:srgbClr val="000000"/>
                </a:solidFill>
                <a:latin typeface="Times New Roman"/>
              </a:rPr>
              <a:t>8</a:t>
            </a:r>
            <a:endParaRPr lang="en-US" sz="1600" dirty="0">
              <a:latin typeface="Times New Roman"/>
              <a:cs typeface="Times New Roman"/>
            </a:endParaRPr>
          </a:p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4AC3C6-96FD-B84E-AE1D-1952734D011F}"/>
              </a:ext>
            </a:extLst>
          </p:cNvPr>
          <p:cNvSpPr txBox="1"/>
          <p:nvPr/>
        </p:nvSpPr>
        <p:spPr>
          <a:xfrm>
            <a:off x="735106" y="5212976"/>
            <a:ext cx="6096000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600" b="1" i="0" u="none" strike="noStrike" baseline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Project Advisor: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  <a:r>
              <a:rPr lang="en-US" sz="1600" b="0" i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600" b="1" i="0" u="none" strike="noStrike" baseline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Ms. Sreebha Bhaskaran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  <a:r>
              <a:rPr lang="en-US" sz="1600" b="0" i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600" b="1" i="0" u="none" strike="noStrike" baseline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Dr. Meena Belwal</a:t>
            </a: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Times New Roman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37528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spcAft>
                <a:spcPts val="800"/>
              </a:spcAft>
              <a:buFont typeface="Arial"/>
              <a:buChar char="•"/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Security Constraint: IoT edge devices (sensors, smart cameras, medical monitors) collect sensitive data that must be encrypted immediately before transmission.</a:t>
            </a:r>
            <a:endParaRPr lang="en-US"/>
          </a:p>
          <a:p>
            <a:pPr marL="285750" indent="-285750">
              <a:spcAft>
                <a:spcPts val="800"/>
              </a:spcAft>
              <a:buFont typeface="Arial"/>
              <a:buChar char="•"/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Hardware Constraint: Edge devices possess strictly limited CPU cycles, memory, and battery life.</a:t>
            </a:r>
            <a:endParaRPr dirty="0">
              <a:cs typeface="Times New Roman"/>
            </a:endParaRPr>
          </a:p>
          <a:p>
            <a:pPr marL="285750" indent="-285750">
              <a:spcAft>
                <a:spcPts val="800"/>
              </a:spcAft>
              <a:buFont typeface="Arial"/>
              <a:buChar char="•"/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Conventional Problem: Traditional standard encryption (like full hardware AES) may exhaust the resources of ultra-constrained devices (e.g., simple RFID tags or microcontrollers).</a:t>
            </a:r>
            <a:endParaRPr>
              <a:cs typeface="Times New Roman"/>
            </a:endParaR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endParaRPr lang="en-US">
              <a:cs typeface="Times New Roman"/>
            </a:endParaR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Core Objective: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To conduct a rigorous comparative evaluation of standard versus lightweight encryption algorithms -- measuring latency, throughput, CPU utilization, and memory footprint -- to identify the optimal algorithm for diverse edge environments.</a:t>
            </a:r>
            <a:endParaRPr dirty="0"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Times New Roman"/>
              </a:defRPr>
            </a:pPr>
            <a:r>
              <a:t>Justification for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Why is this problem important?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1. Explosive IoT Growth: By 2025, over 75 billion IoT devices are projected worldwide. Each device generates sensitive data requiring encryption.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2. Edge Security Gap: Most IoT breaches occur at the edge. Encrypting data at the source (not in the cloud) prevents man-in-the-middle interception during transmission.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3. Resource Mismatch: Standard AES requires dedicated hardware (AES-NI) that passive RFID tags and 8-bit microcontrollers simply do not have. Lightweight ciphers (PRESENT, SPECK) were specifically designed for these constraints.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4. No Universal Solution: There is no single 'best' algorithm -- the optimal choice depends on whether the device has hardware acceleration, how much RAM/ROM is available, and the acceptable latency budget.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5. Distributed Systems Relevance: In a real deployment, thousands of edge nodes must encrypt concurrently. Our benchmark measures not just individual cipher performance but system-wide scalability under parallel distributed workloads.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Times New Roman"/>
              </a:defRPr>
            </a:pPr>
            <a:r>
              <a:t>Literature Survey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029260"/>
              </p:ext>
            </p:extLst>
          </p:nvPr>
        </p:nvGraphicFramePr>
        <p:xfrm>
          <a:off x="457200" y="118872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lang="en-US" dirty="0" err="1"/>
                        <a:t>S.No</a:t>
                      </a:r>
                      <a:endParaRPr dirty="0" err="1"/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Paper Title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Authors / Year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Key Contribution / Relevance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The Design of Rijndael: AES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rPr dirty="0"/>
                        <a:t>Daemen &amp; </a:t>
                      </a:r>
                      <a:r>
                        <a:rPr dirty="0" err="1"/>
                        <a:t>Rijmen</a:t>
                      </a:r>
                      <a:r>
                        <a:rPr dirty="0"/>
                        <a:t>, 2002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Establishes AES block cipher. We use AES-256-GCM as industry-standard baseline.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rPr dirty="0" err="1"/>
                        <a:t>ChaCha</a:t>
                      </a:r>
                      <a:r>
                        <a:rPr dirty="0"/>
                        <a:t>, a variant of Salsa20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Bernstein D.J., 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ChaCha20 stream cipher excels in software without hardware crypto instructions.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PRESENT: An Ultra-Lightweight Block Cipher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Bogdanov et al., CHES 2007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SPN cipher for extreme constraints (~1,570 GE). Benchmarks lowest hardware tier.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The SIMON and SPECK Families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Beaulieu et al., IACR 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SPECK-64/128 ARX cipher by NSA. 24 cycles/byte on ARM Cortex microcontrollers.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Lightweight Crypto for IoT Devices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Thakor et al., IEEE Access 2021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rPr dirty="0"/>
                        <a:t>Comparative framework for latency, throughput, memory. Our methodology mirrors this.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Times New Roman"/>
              </a:defRPr>
            </a:pPr>
            <a:r>
              <a:t>Literature Survey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156937"/>
              </p:ext>
            </p:extLst>
          </p:nvPr>
        </p:nvGraphicFramePr>
        <p:xfrm>
          <a:off x="457200" y="118872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lang="en-US" dirty="0" err="1"/>
                        <a:t>S.No</a:t>
                      </a:r>
                      <a:endParaRPr dirty="0" err="1"/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Paper Title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Authors / Year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Key Contribution / Relevance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Wireless Sensor Networks: A Survey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Akyildiz et al., Comp. Networks 2002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rPr dirty="0"/>
                        <a:t>Node count scales with area x density (N=</a:t>
                      </a:r>
                      <a:r>
                        <a:rPr dirty="0" err="1"/>
                        <a:t>AxD</a:t>
                      </a:r>
                      <a:r>
                        <a:rPr dirty="0"/>
                        <a:t>). Informs our distributed simulation.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Edge Computing: Vision and Challenges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Shi et al., IEEE IoT Journal 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Defines edge computing paradigm. Justifies why encryption must occur at edge, not cloud.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The Internet of Things: A Survey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Li et al., Inf. Systems Frontiers 2015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Comprehensive IoT architecture survey. Validates our sensor data model and edge constraints.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Report on Lightweight Cryptography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McKay et al., NIST IR 8114, 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rPr dirty="0"/>
                        <a:t>NIST guidelines for lightweight crypto selection. Frames our algorithm comparison criteria.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Review of Lightweight Block Ciphers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rPr dirty="0" err="1"/>
                        <a:t>Hatzivasilis</a:t>
                      </a:r>
                      <a:r>
                        <a:rPr dirty="0"/>
                        <a:t> et al., J. Crypto. Eng. 2018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Systematic review of PRESENT, SPECK, SIMON. Validates our from-scratch implementation approach.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Times New Roman"/>
              </a:defRPr>
            </a:pPr>
            <a:r>
              <a:t>Dataset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22194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spcAft>
                <a:spcPts val="800"/>
              </a:spcAft>
              <a:buFont typeface="Arial"/>
              <a:buChar char="•"/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Synthetic IoT Sensor Data:</a:t>
            </a:r>
            <a:endParaRPr lang="en-US"/>
          </a:p>
          <a:p>
            <a:pPr marL="285750" indent="-285750">
              <a:spcAft>
                <a:spcPts val="800"/>
              </a:spcAft>
              <a:buFont typeface="Arial"/>
              <a:buChar char="•"/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lang="en-US" dirty="0"/>
              <a:t> </a:t>
            </a:r>
            <a:r>
              <a:t>We generate realistic JSON payloads mimicking IoT sensor telemetry streams.</a:t>
            </a:r>
            <a:endParaRPr>
              <a:cs typeface="Times New Roman"/>
            </a:endParaRPr>
          </a:p>
          <a:p>
            <a:pPr marL="285750" indent="-285750">
              <a:spcAft>
                <a:spcPts val="800"/>
              </a:spcAft>
              <a:buFont typeface="Arial"/>
              <a:buChar char="•"/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lang="en-US" dirty="0"/>
              <a:t> </a:t>
            </a:r>
            <a:r>
              <a:rPr dirty="0"/>
              <a:t> Each record contains: timestamp, </a:t>
            </a:r>
            <a:r>
              <a:rPr dirty="0" err="1"/>
              <a:t>device_id</a:t>
            </a:r>
            <a:r>
              <a:rPr dirty="0"/>
              <a:t>, </a:t>
            </a:r>
            <a:r>
              <a:rPr dirty="0" err="1"/>
              <a:t>temperature_c</a:t>
            </a:r>
            <a:r>
              <a:rPr dirty="0"/>
              <a:t>, </a:t>
            </a:r>
            <a:r>
              <a:rPr dirty="0" err="1"/>
              <a:t>humidity_pct</a:t>
            </a:r>
            <a:r>
              <a:rPr dirty="0"/>
              <a:t>, </a:t>
            </a:r>
            <a:r>
              <a:rPr dirty="0" err="1"/>
              <a:t>pressure_hpa</a:t>
            </a:r>
            <a:r>
              <a:rPr dirty="0"/>
              <a:t>, </a:t>
            </a:r>
            <a:r>
              <a:rPr dirty="0" err="1"/>
              <a:t>light_lux</a:t>
            </a:r>
            <a:r>
              <a:rPr dirty="0"/>
              <a:t>, </a:t>
            </a:r>
            <a:r>
              <a:rPr dirty="0" err="1"/>
              <a:t>sensor_voltage</a:t>
            </a:r>
            <a:r>
              <a:rPr dirty="0"/>
              <a:t>, status.</a:t>
            </a:r>
            <a:endParaRPr dirty="0">
              <a:cs typeface="Times New Roman"/>
            </a:endParaRPr>
          </a:p>
          <a:p>
            <a:pPr marL="285750" indent="-285750">
              <a:spcAft>
                <a:spcPts val="800"/>
              </a:spcAft>
              <a:buFont typeface="Arial"/>
              <a:buChar char="•"/>
              <a:defRPr sz="1600">
                <a:solidFill>
                  <a:srgbClr val="000000"/>
                </a:solidFill>
                <a:latin typeface="Times New Roman"/>
              </a:defRPr>
            </a:pPr>
            <a:endParaRPr>
              <a:cs typeface="Times New Roman"/>
            </a:endParaRPr>
          </a:p>
          <a:p>
            <a:pPr marL="285750" indent="-285750">
              <a:spcAft>
                <a:spcPts val="800"/>
              </a:spcAft>
              <a:buFont typeface="Arial"/>
              <a:buChar char="•"/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Data Sizes Used: 1KB, 10KB, 100KB</a:t>
            </a:r>
            <a:endParaRPr>
              <a:cs typeface="Times New Roman"/>
            </a:endParaRPr>
          </a:p>
          <a:p>
            <a:pPr marL="285750" indent="-285750">
              <a:spcAft>
                <a:spcPts val="800"/>
              </a:spcAft>
              <a:buFont typeface="Arial"/>
              <a:buChar char="•"/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lang="en-US" dirty="0"/>
              <a:t>  </a:t>
            </a:r>
            <a:r>
              <a:t>1KB: Single sensor reading (~5 JSON records) -- typical RFID/smart card payload.</a:t>
            </a:r>
            <a:endParaRPr>
              <a:cs typeface="Times New Roman"/>
            </a:endParaRPr>
          </a:p>
          <a:p>
            <a:pPr marL="285750" indent="-285750">
              <a:spcAft>
                <a:spcPts val="800"/>
              </a:spcAft>
              <a:buFont typeface="Arial"/>
              <a:buChar char="•"/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lang="en-US" dirty="0"/>
              <a:t>  </a:t>
            </a:r>
            <a:r>
              <a:t>10KB: Small batch of readings (~50 records) -- typical for periodic sensor uploads.</a:t>
            </a:r>
            <a:endParaRPr>
              <a:cs typeface="Times New Roman"/>
            </a:endParaRPr>
          </a:p>
          <a:p>
            <a:pPr marL="285750" indent="-285750">
              <a:spcAft>
                <a:spcPts val="800"/>
              </a:spcAft>
              <a:buFont typeface="Arial"/>
              <a:buChar char="•"/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lang="en-US"/>
              <a:t>  </a:t>
            </a:r>
            <a:r>
              <a:t>100KB: Larger aggregated batch (~500 records) -- typical for edge gateway aggregation.</a:t>
            </a:r>
            <a:endParaRPr>
              <a:cs typeface="Times New Roman"/>
            </a:endParaRPr>
          </a:p>
          <a:p>
            <a:pPr marL="285750" indent="-285750">
              <a:spcAft>
                <a:spcPts val="800"/>
              </a:spcAft>
              <a:buFont typeface="Arial"/>
              <a:buChar char="•"/>
              <a:defRPr sz="1600">
                <a:solidFill>
                  <a:srgbClr val="000000"/>
                </a:solidFill>
                <a:latin typeface="Times New Roman"/>
              </a:defRPr>
            </a:pPr>
            <a:endParaRPr>
              <a:cs typeface="Times New Roman"/>
            </a:endParaRPr>
          </a:p>
          <a:p>
            <a:pPr marL="285750" indent="-285750">
              <a:spcAft>
                <a:spcPts val="800"/>
              </a:spcAft>
              <a:buFont typeface="Arial"/>
              <a:buChar char="•"/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Generation Strategy:</a:t>
            </a:r>
            <a:endParaRPr>
              <a:cs typeface="Times New Roman"/>
            </a:endParaRPr>
          </a:p>
          <a:p>
            <a:pPr marL="285750" indent="-285750">
              <a:spcAft>
                <a:spcPts val="800"/>
              </a:spcAft>
              <a:buFont typeface="Arial"/>
              <a:buChar char="•"/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 Records are accumulated until the serialized JSON meets the target byte size.</a:t>
            </a:r>
            <a:endParaRPr>
              <a:cs typeface="Times New Roman"/>
            </a:endParaRPr>
          </a:p>
          <a:p>
            <a:pPr marL="285750" indent="-285750">
              <a:spcAft>
                <a:spcPts val="800"/>
              </a:spcAft>
              <a:buFont typeface="Arial"/>
              <a:buChar char="•"/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lang="en-US" dirty="0"/>
              <a:t> </a:t>
            </a:r>
            <a:r>
              <a:t>Data is then padded or trimmed to exactly match the requested size.</a:t>
            </a:r>
            <a:endParaRPr>
              <a:cs typeface="Times New Roman"/>
            </a:endParaRPr>
          </a:p>
          <a:p>
            <a:pPr marL="285750" indent="-285750">
              <a:spcAft>
                <a:spcPts val="800"/>
              </a:spcAft>
              <a:buFont typeface="Arial"/>
              <a:buChar char="•"/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lang="en-US" dirty="0"/>
              <a:t> </a:t>
            </a:r>
            <a:r>
              <a:t>The same data is used across all algorithms at each size for fair comparison.</a:t>
            </a:r>
            <a:endParaRPr>
              <a:cs typeface="Times New Roman"/>
            </a:endParaRPr>
          </a:p>
          <a:p>
            <a:pPr marL="285750" indent="-285750">
              <a:spcAft>
                <a:spcPts val="800"/>
              </a:spcAft>
              <a:buFont typeface="Arial"/>
              <a:buChar char="•"/>
              <a:defRPr sz="1600">
                <a:solidFill>
                  <a:srgbClr val="000000"/>
                </a:solidFill>
                <a:latin typeface="Times New Roman"/>
              </a:defRPr>
            </a:pPr>
            <a:endParaRPr>
              <a:cs typeface="Times New Roman"/>
            </a:endParaRPr>
          </a:p>
          <a:p>
            <a:pPr marL="285750" indent="-285750">
              <a:spcAft>
                <a:spcPts val="800"/>
              </a:spcAft>
              <a:buFont typeface="Arial"/>
              <a:buChar char="•"/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Total Benchmark Matrix: 4 algorithms x 3 sizes x 5 iterations x 2 ops (</a:t>
            </a:r>
            <a:r>
              <a:rPr dirty="0" err="1"/>
              <a:t>enc+dec</a:t>
            </a:r>
            <a:r>
              <a:rPr dirty="0"/>
              <a:t>) = 120 runs</a:t>
            </a:r>
            <a:endParaRPr dirty="0"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7563" y="301251"/>
            <a:ext cx="107924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Times New Roman"/>
              </a:defRPr>
            </a:pPr>
            <a:r>
              <a:rPr dirty="0"/>
              <a:t>Why Single-Node Benchmarking &amp; Distributed Systems?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Why Single-Node First?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1. Establishes the Baseline: You cannot measure distributed scalability without knowing what 1 node can do. Single-node results provide the denominator for the Scalability Factor.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2. Finds Optimal Packet Size: Testing 1KB, 10KB, 100KB reveals each algorithm's setup overhead vs. processing cost curve, identifying the ideal network packet size.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3. Proves Hardware Feasibility: Isolates exact CPU% and peak RAM per device, proving the algorithm is physically deployable on constrained IoT hardware.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Why Distributed Systems?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1. Real-World Scale: IoT deployments have thousands of nodes encrypting concurrently. A single-node test cannot capture inter-node overhead or parallel contention.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2. Scalability Proof: By distributing a fixed 100KB workload across N=5 to N=1000 nodes, we prove near-linear throughput scaling for AES/ChaCha20.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3. Data Sovereignty: Encrypting at the edge (not cloud) keeps plaintext off the network. This architecture tolerates compromised intermediate nodes.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4. Key Finding: AES/ChaCha20 scale almost perfectly. PRESENT/SPECK's process overhead exceeds their encryption time at high node counts.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Times New Roman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Times New Roman"/>
              </a:defRPr>
            </a:pPr>
            <a:r>
              <a:t>Overall Execution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Step 1: Data Generation --&gt; generate_iot_data(size_bytes) creates synthetic IoT JSON payloads of exact target size.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Step 2: Key Generation --&gt; Each algorithm module generates a cryptographic key (AES: 256-bit, ChaCha20: 256-bit, PRESENT: 80-bit, SPECK: 128-bit).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Step 3: Benchmarked Encryption --&gt; BenchmarkProfiler context manager wraps encrypt(data, key). Captures wall-clock time, CPU%, peak memory, throughput.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Step 4: Simulated Edge Transmission --&gt; 50ms delay injected between encrypt and decrypt to model real edge-to-cloud network latency.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Step 5: Benchmarked Decryption --&gt; Same profiler wraps decrypt(nonce, ciphertext, tag, key). Integrity assertion: decrypted == original data.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Step 6: Results Aggregation --&gt; All 120 measurements saved to CSV/JSON. Pandas aggregation computes averages. Matplotlib generates 6 comparison graphs.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Times New Roman"/>
              </a:defRPr>
            </a:pPr>
            <a:r>
              <a:t>Encryption Algorithm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2426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Property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AES-256-GCM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ChaCha20-Poly1305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PRESENT-80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SPECK-64/128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Block Cipher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Stream Cipher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Block Cipher (Lightweight)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Block Cipher (Lightweight)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SPN (SubBytes, ShiftRows, MixColumns)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ARX (Add, Rotate, XOR)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SPN (4-bit S-Box + P-Box)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ARX (Add, Rotate, XOR)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Block Size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128 bits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N/A (stream)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64 bits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64 bits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Key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256 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256 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80 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128 bits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Rounds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20 quarter-rounds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Auth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GCM (GHASH)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Poly1305 MAC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CTR + HMAC-SHA256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CTR + HMAC-SHA256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Gate Count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~50,000 GE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~38,000 GE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~1,570 GE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~2,400 GE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Times New Roman"/>
              </a:defRPr>
            </a:pPr>
            <a:r>
              <a:t>Algorithm </a:t>
            </a:r>
            <a:r>
              <a:rPr lang="en-US"/>
              <a:t>Methodology</a:t>
            </a: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AES-256-GCM: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- 14 rounds of SubBytes, ShiftRows, MixColumns, AddRoundKey.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- GCM mode provides authenticated encryption.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- Implemented via PyCryptodome (uses hardware AES-NI if available).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ChaCha20-Poly1305: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- 20 rounds of quarter-round ARX operations generate a keystream.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- Plaintext XORed with keystream for encryption.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- Poly1305 MAC provides authentication.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- Implemented via PyCryptodome (optimized C backend).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PRESENT-80 (Built from scratch):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- 31 rounds on 64-bit blocks using 4-bit S-Box substitution + bit permutation (P-Box).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- Wrapped in CTR mode for arbitrary-length payloads.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- HMAC-SHA256 added for integrity (since PRESENT has no built-in authentication).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SPECK-64/128 (Built from scratch):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- 27 rounds using only bitwise rotation, modular addition, and XOR.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- No S-Boxes: maximizes software efficiency on microcontrollers.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- Wrapped in CTR mode + HMAC-SHA256 for AEAD-like behavior.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- Key expansion generates 27 round keys from the 128-bit master key.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Times New Roman"/>
              </a:defRPr>
            </a:pPr>
            <a:r>
              <a:t>Results: Throughput &amp; CPU Usage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through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3200400"/>
          </a:xfrm>
          <a:prstGeom prst="rect">
            <a:avLst/>
          </a:prstGeom>
        </p:spPr>
      </p:pic>
      <p:pic>
        <p:nvPicPr>
          <p:cNvPr id="5" name="Picture 4" descr="cpu_us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846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1E1E"/>
                </a:solidFill>
                <a:latin typeface="Times New Roman"/>
              </a:defRPr>
            </a:pPr>
            <a:r>
              <a:t>- AES achieves ~94 MB/s and ChaCha20 ~50 MB/s at 100KB. PRESENT and SPECK are orders of magnitude slower in pure Python.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1E1E"/>
                </a:solidFill>
                <a:latin typeface="Times New Roman"/>
              </a:defRPr>
            </a:pPr>
            <a:r>
              <a:t>- All algorithms show real measured CPU utilization (~88-179%) thanks to calibrated cpu_times() profiling.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Times New Roman"/>
              </a:defRPr>
            </a:pPr>
            <a:r>
              <a:t>Results: Encryption &amp; Decryption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ncryption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3200400"/>
          </a:xfrm>
          <a:prstGeom prst="rect">
            <a:avLst/>
          </a:prstGeom>
        </p:spPr>
      </p:pic>
      <p:pic>
        <p:nvPicPr>
          <p:cNvPr id="5" name="Picture 4" descr="decryption_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846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1E1E"/>
                </a:solidFill>
                <a:latin typeface="Times New Roman"/>
              </a:defRPr>
            </a:pPr>
            <a:r>
              <a:t>- PRESENT: ~127s for 100KB encryption. SPECK: ~5.6s for 100KB. AES: ~1.2ms, ChaCha20: ~2.1ms for 100KB.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1E1E"/>
                </a:solidFill>
                <a:latin typeface="Times New Roman"/>
              </a:defRPr>
            </a:pPr>
            <a:r>
              <a:t>- Time scales linearly with data size for all algorithms, confirming O(n) complexity. Log-scale Y-axis used to show all bars.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Times New Roman"/>
              </a:defRPr>
            </a:pPr>
            <a:r>
              <a:t>Results: Memory &amp; Summary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mory_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3200400"/>
          </a:xfrm>
          <a:prstGeom prst="rect">
            <a:avLst/>
          </a:prstGeom>
        </p:spPr>
      </p:pic>
      <p:pic>
        <p:nvPicPr>
          <p:cNvPr id="5" name="Picture 4" descr="summary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846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1E1E"/>
                </a:solidFill>
                <a:latin typeface="Times New Roman"/>
              </a:defRPr>
            </a:pPr>
            <a:r>
              <a:t>- At 100KB: AES ~202KB, ChaCha20 ~201KB, PRESENT ~211KB, SPECK ~210KB peak memory.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Times New Roman"/>
              </a:defRPr>
            </a:pPr>
            <a:r>
              <a:t>Results: Summary Table &amp; Best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  <a:latin typeface="Times New Roman"/>
              </a:defRPr>
            </a:pPr>
            <a:r>
              <a:t>Encryption Performance (averaged across 1KB, 10KB, 100KB -- 5 iterations each):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Avg Time (ms)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Avg CPU %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Avg Memory (KB)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Avg Throughput (MB/s)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Composite Score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latin typeface="Times New Roman"/>
                        </a:defRPr>
                      </a:pPr>
                      <a:r>
                        <a:t>AES-256-GCM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Times New Roman"/>
                        </a:defRPr>
                      </a:pPr>
                      <a:r>
                        <a:t>1.06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Times New Roman"/>
                        </a:defRPr>
                      </a:pPr>
                      <a:r>
                        <a:t>179.1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Times New Roman"/>
                        </a:defRPr>
                      </a:pPr>
                      <a:r>
                        <a:t>76.5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Times New Roman"/>
                        </a:defRPr>
                      </a:pPr>
                      <a:r>
                        <a:t>35.80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Times New Roman"/>
                        </a:defRPr>
                      </a:pPr>
                      <a:r>
                        <a:rPr dirty="0"/>
                        <a:t>6.0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latin typeface="Times New Roman"/>
                        </a:defRPr>
                      </a:pPr>
                      <a:r>
                        <a:t>ChaCha20-Poly1305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Times New Roman"/>
                        </a:defRPr>
                      </a:pPr>
                      <a:r>
                        <a:t>1.16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Times New Roman"/>
                        </a:defRPr>
                      </a:pPr>
                      <a:r>
                        <a:t>143.1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Times New Roman"/>
                        </a:defRPr>
                      </a:pPr>
                      <a:r>
                        <a:t>75.0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Times New Roman"/>
                        </a:defRPr>
                      </a:pPr>
                      <a:r>
                        <a:t>22.69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Times New Roman"/>
                        </a:defRPr>
                      </a:pPr>
                      <a:r>
                        <a:rPr dirty="0"/>
                        <a:t>7.0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latin typeface="Times New Roman"/>
                        </a:defRPr>
                      </a:pPr>
                      <a:r>
                        <a:t>PRESENT-80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Times New Roman"/>
                        </a:defRPr>
                      </a:pPr>
                      <a:r>
                        <a:t>48,294.17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Times New Roman"/>
                        </a:defRPr>
                      </a:pPr>
                      <a:r>
                        <a:t>88.6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Times New Roman"/>
                        </a:defRPr>
                      </a:pPr>
                      <a:r>
                        <a:t>78.8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Times New Roman"/>
                        </a:defRPr>
                      </a:pPr>
                      <a:r>
                        <a:t>0.001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Times New Roman"/>
                        </a:defRPr>
                      </a:pPr>
                      <a:r>
                        <a:t>14.0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latin typeface="Times New Roman"/>
                        </a:defRPr>
                      </a:pPr>
                      <a:r>
                        <a:t>SPECK-64/128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Times New Roman"/>
                        </a:defRPr>
                      </a:pPr>
                      <a:r>
                        <a:t>2,091.74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Times New Roman"/>
                        </a:defRPr>
                      </a:pPr>
                      <a:r>
                        <a:t>95.3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Times New Roman"/>
                        </a:defRPr>
                      </a:pPr>
                      <a:r>
                        <a:t>78.7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Times New Roman"/>
                        </a:defRPr>
                      </a:pPr>
                      <a:r>
                        <a:t>0.017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Times New Roman"/>
                        </a:defRPr>
                      </a:pPr>
                      <a:r>
                        <a:rPr dirty="0"/>
                        <a:t>13.0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480914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  <a:latin typeface="Times New Roman"/>
              </a:defRPr>
            </a:pPr>
            <a:r>
              <a:t>Scoring: Each algorithm ranked 1-4 on throughput, latency, CPU, memory. Sum of ranks = composite score. Lower = better.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065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  <a:latin typeface="Times New Roman"/>
              </a:defRPr>
            </a:pPr>
            <a:r>
              <a:rPr dirty="0"/>
              <a:t>BEST OVERALL: AES-256-GCM (Score: 6.0)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1E1E"/>
                </a:solidFill>
                <a:latin typeface="Times New Roman"/>
              </a:defRPr>
            </a:pPr>
            <a:r>
              <a:t>- AES wins on latency &amp; throughput (hardware AES-NI). ChaCha20 is the best choice on devices without AES-NI hardware.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Times New Roman"/>
              </a:defRPr>
            </a:pPr>
            <a:r>
              <a:t>Results: Scalability &amp; Distributed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calability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616952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563EB"/>
                </a:solidFill>
                <a:latin typeface="Times New Roman"/>
              </a:defRPr>
            </a:pPr>
            <a:r>
              <a:t>System scalability remains nearly linear as the number of nodes increases (N = 5 to 1000).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Times New Roman"/>
              </a:defRPr>
            </a:pPr>
            <a:r>
              <a:t>Conclusion: Where Each Algorithm Excels &amp; Fails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Fails When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200">
                          <a:latin typeface="Times New Roman"/>
                        </a:defRPr>
                      </a:pPr>
                      <a:r>
                        <a:t>AES-256-GCM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Times New Roman"/>
                        </a:defRPr>
                      </a:pPr>
                      <a:r>
                        <a:t>High-performance edge nodes</a:t>
                      </a:r>
                    </a:p>
                    <a:p>
                      <a:pPr algn="ctr">
                        <a:defRPr sz="1200">
                          <a:latin typeface="Times New Roman"/>
                        </a:defRPr>
                      </a:pPr>
                      <a:r>
                        <a:t>(Raspberry Pi, x86 with AES-NI)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Times New Roman"/>
                        </a:defRPr>
                      </a:pPr>
                      <a:r>
                        <a:t>Ultra-constrained devices</a:t>
                      </a:r>
                    </a:p>
                    <a:p>
                      <a:pPr algn="ctr">
                        <a:defRPr sz="1200">
                          <a:latin typeface="Times New Roman"/>
                        </a:defRPr>
                      </a:pPr>
                      <a:r>
                        <a:t>(passive RFID, 8-bit MCUs)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Times New Roman"/>
                        </a:defRPr>
                      </a:pPr>
                      <a:r>
                        <a:t>Requires ~50,000 GE and dedicated</a:t>
                      </a:r>
                    </a:p>
                    <a:p>
                      <a:pPr algn="ctr">
                        <a:defRPr sz="1200">
                          <a:latin typeface="Times New Roman"/>
                        </a:defRPr>
                      </a:pPr>
                      <a:r>
                        <a:t>hardware instructions (AES-NI) for speed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200">
                          <a:latin typeface="Times New Roman"/>
                        </a:defRPr>
                      </a:pPr>
                      <a:r>
                        <a:t>ChaCha20-Poly1305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Times New Roman"/>
                        </a:defRPr>
                      </a:pPr>
                      <a:r>
                        <a:t>Software-only ARM/RISC-V MCUs</a:t>
                      </a:r>
                    </a:p>
                    <a:p>
                      <a:pPr algn="ctr">
                        <a:defRPr sz="1200">
                          <a:latin typeface="Times New Roman"/>
                        </a:defRPr>
                      </a:pPr>
                      <a:r>
                        <a:t>(no crypto hardware needed)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Times New Roman"/>
                        </a:defRPr>
                      </a:pPr>
                      <a:r>
                        <a:t>Extreme gate-count limits</a:t>
                      </a:r>
                    </a:p>
                    <a:p>
                      <a:pPr algn="ctr">
                        <a:defRPr sz="1200">
                          <a:latin typeface="Times New Roman"/>
                        </a:defRPr>
                      </a:pPr>
                      <a:r>
                        <a:t>(needs ~38,000 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Times New Roman"/>
                        </a:defRPr>
                      </a:pPr>
                      <a:r>
                        <a:t>Pure ARX ops are fast in software but</a:t>
                      </a:r>
                    </a:p>
                    <a:p>
                      <a:pPr algn="ctr">
                        <a:defRPr sz="1200">
                          <a:latin typeface="Times New Roman"/>
                        </a:defRPr>
                      </a:pPr>
                      <a:r>
                        <a:t>still require moderate silicon area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200">
                          <a:latin typeface="Times New Roman"/>
                        </a:defRPr>
                      </a:pPr>
                      <a:r>
                        <a:t>PRESENT-80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Times New Roman"/>
                        </a:defRPr>
                      </a:pPr>
                      <a:r>
                        <a:t>Passive RFID, smart cards</a:t>
                      </a:r>
                    </a:p>
                    <a:p>
                      <a:pPr algn="ctr">
                        <a:defRPr sz="1200">
                          <a:latin typeface="Times New Roman"/>
                        </a:defRPr>
                      </a:pPr>
                      <a:r>
                        <a:t>(needs only ~1,570 GE)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Times New Roman"/>
                        </a:defRPr>
                      </a:pPr>
                      <a:r>
                        <a:t>Any payload &gt;1KB in software</a:t>
                      </a:r>
                    </a:p>
                    <a:p>
                      <a:pPr algn="ctr">
                        <a:defRPr sz="1200">
                          <a:latin typeface="Times New Roman"/>
                        </a:defRPr>
                      </a:pPr>
                      <a:r>
                        <a:t>(~375ms per 1KB, ~37s per 100KB)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Times New Roman"/>
                        </a:defRPr>
                      </a:pPr>
                      <a:r>
                        <a:t>Designed for hardware ASIC, not software.</a:t>
                      </a:r>
                    </a:p>
                    <a:p>
                      <a:pPr algn="ctr">
                        <a:defRPr sz="1200">
                          <a:latin typeface="Times New Roman"/>
                        </a:defRPr>
                      </a:pPr>
                      <a:r>
                        <a:t>31 rounds of 4-bit S-Box are slow in Python.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200">
                          <a:latin typeface="Times New Roman"/>
                        </a:defRPr>
                      </a:pPr>
                      <a:r>
                        <a:t>SPECK-64/128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Times New Roman"/>
                        </a:defRPr>
                      </a:pPr>
                      <a:r>
                        <a:t>Constrained MCUs needing speed</a:t>
                      </a:r>
                    </a:p>
                    <a:p>
                      <a:pPr algn="ctr">
                        <a:defRPr sz="1200">
                          <a:latin typeface="Times New Roman"/>
                        </a:defRPr>
                      </a:pPr>
                      <a:r>
                        <a:t>(24 cycles/byte on ARM Cortex)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Times New Roman"/>
                        </a:defRPr>
                      </a:pPr>
                      <a:r>
                        <a:t>Large payloads in pure Python</a:t>
                      </a:r>
                    </a:p>
                    <a:p>
                      <a:pPr algn="ctr">
                        <a:defRPr sz="1200">
                          <a:latin typeface="Times New Roman"/>
                        </a:defRPr>
                      </a:pPr>
                      <a:r>
                        <a:t>(~1.7s per 100KB)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Times New Roman"/>
                        </a:defRPr>
                      </a:pPr>
                      <a:r>
                        <a:t>Optimized for C/ASM on MCUs. Python's</a:t>
                      </a:r>
                    </a:p>
                    <a:p>
                      <a:pPr algn="ctr">
                        <a:defRPr sz="1200">
                          <a:latin typeface="Times New Roman"/>
                        </a:defRPr>
                      </a:pPr>
                      <a:r>
                        <a:t>interpreter overhead negates ARX advantages.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Times New Roman"/>
              </a:defRPr>
            </a:pPr>
            <a:r>
              <a:t>References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48840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[1] Daemen, J. &amp; </a:t>
            </a:r>
            <a:r>
              <a:rPr dirty="0" err="1"/>
              <a:t>Rijmen</a:t>
            </a:r>
            <a:r>
              <a:rPr dirty="0"/>
              <a:t>, V. (2002). "The Design of Rijndael: AES." Springer.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[2] Bernstein, D.J. (2008). "</a:t>
            </a:r>
            <a:r>
              <a:rPr dirty="0" err="1"/>
              <a:t>ChaCha</a:t>
            </a:r>
            <a:r>
              <a:rPr dirty="0"/>
              <a:t>, a variant of Salsa20." SASC 2008.</a:t>
            </a:r>
            <a:endParaRPr dirty="0">
              <a:cs typeface="Times New Roman"/>
            </a:endParaR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[3] Bogdanov, A. et al. (2007). "PRESENT: An Ultra-Lightweight Block Cipher." CHES 2007, LNCS 4727.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[4] Beaulieu, R. et al. (2013). "The SIMON and SPECK Families of Lightweight Block Ciphers." IACR </a:t>
            </a:r>
            <a:r>
              <a:rPr dirty="0" err="1"/>
              <a:t>ePrint</a:t>
            </a:r>
            <a:r>
              <a:rPr dirty="0"/>
              <a:t> 2013/404.</a:t>
            </a:r>
            <a:endParaRPr dirty="0">
              <a:cs typeface="Times New Roman"/>
            </a:endParaR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[5] Thakor, V. et al. (2021). "Lightweight Cryptography Algorithms for Resource-Constrained IoT Devices." IEEE Access, Vol. 9.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[6] Akyildiz, I.F. et al. (2002). "Wireless Sensor Networks: A Survey." Computer Networks, Vol. 38(4).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[7] Shi, W. et al. (2016). "Edge Computing: Vision and Challenges." IEEE Internet of Things Journal, 3(5).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[8] Li, S. et al. (2015). "The Internet of Things: A Survey." Information Systems Frontiers, 17(2).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[9] McKay, K. et al. (2017). "Report on Lightweight Cryptography." NIST Internal Report 8114.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[10] </a:t>
            </a:r>
            <a:r>
              <a:rPr dirty="0" err="1"/>
              <a:t>Hatzivasilis</a:t>
            </a:r>
            <a:r>
              <a:rPr dirty="0"/>
              <a:t>, G. et al. (2018). "Review of Lightweight Block Ciphers." Journal of Cryptographic Engineering, 8(2).</a:t>
            </a:r>
            <a:endParaRPr dirty="0">
              <a:cs typeface="Times New Roman"/>
            </a:endParaR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lang="en-US" sz="1400">
                <a:cs typeface="Times New Roman"/>
              </a:rPr>
              <a:t>[11] </a:t>
            </a:r>
            <a:r>
              <a:rPr lang="en-US" sz="1400" dirty="0">
                <a:cs typeface="Times New Roman"/>
                <a:hlinkClick r:id="rId2"/>
              </a:rPr>
              <a:t>https://en.wikipedia.org/wiki/Advanced_Encryption_Standard</a:t>
            </a:r>
            <a:endParaRPr lang="en-US" sz="1400" dirty="0">
              <a:cs typeface="Times New Roman"/>
            </a:endParaR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lang="en-US" sz="1400">
                <a:cs typeface="Times New Roman"/>
              </a:rPr>
              <a:t>[12] </a:t>
            </a:r>
            <a:r>
              <a:rPr lang="en-US" sz="1400" dirty="0">
                <a:cs typeface="Times New Roman"/>
                <a:hlinkClick r:id="rId3"/>
              </a:rPr>
              <a:t>https://en.wikipedia.org/wiki/Salsa20#ChaCha_variant</a:t>
            </a:r>
            <a:endParaRPr lang="en-US" sz="1400" dirty="0">
              <a:cs typeface="Times New Roman"/>
            </a:endParaR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lang="en-US" sz="1400" dirty="0">
                <a:cs typeface="Times New Roman"/>
              </a:rPr>
              <a:t>[13] </a:t>
            </a:r>
            <a:r>
              <a:rPr lang="en-US" sz="1400" dirty="0">
                <a:cs typeface="Times New Roman"/>
                <a:hlinkClick r:id="rId4"/>
              </a:rPr>
              <a:t>https://en.wikipedia.org/wiki/PRESENT_(cipher</a:t>
            </a:r>
            <a:r>
              <a:rPr lang="en-US" sz="1400" dirty="0">
                <a:cs typeface="Times New Roman"/>
              </a:rPr>
              <a:t>)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endParaRPr lang="en-US" dirty="0"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E1E1E"/>
                </a:solidFill>
                <a:latin typeface="Times New Roman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657600"/>
            <a:ext cx="1069848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2285</Words>
  <Application>Microsoft Office PowerPoint</Application>
  <PresentationFormat>Widescreen</PresentationFormat>
  <Paragraphs>278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Siva Rama Krishna Reddy Padala</cp:lastModifiedBy>
  <cp:revision>253</cp:revision>
  <dcterms:created xsi:type="dcterms:W3CDTF">2013-01-27T09:14:16Z</dcterms:created>
  <dcterms:modified xsi:type="dcterms:W3CDTF">2026-04-28T04:18:04Z</dcterms:modified>
  <cp:category/>
</cp:coreProperties>
</file>