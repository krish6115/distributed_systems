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7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2560320"/>
            <a:ext cx="10698480" cy="254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914400"/>
            <a:ext cx="106984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1E1E1E"/>
                </a:solidFill>
                <a:latin typeface="Times New Roman"/>
              </a:defRPr>
            </a:pPr>
            <a:r>
              <a:t>Performance Evaluation of Encryption</a:t>
            </a:r>
            <a:br/>
            <a:r>
              <a:t>Algorithms on Edge Devices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926080"/>
            <a:ext cx="10698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2563EB"/>
                </a:solidFill>
                <a:latin typeface="Times New Roman"/>
              </a:defRPr>
            </a:pPr>
            <a:r>
              <a:t>AES-256-GCM  |  ChaCha20-Poly1305  |  PRESENT  |  SPECK-64/128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4114800"/>
            <a:ext cx="10698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646464"/>
                </a:solidFill>
                <a:latin typeface="Times New Roman"/>
              </a:defRPr>
            </a:pPr>
            <a:r>
              <a:t>Distributed Systems - Final Project Presentation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E1E1E"/>
                </a:solidFill>
                <a:latin typeface="Times New Roman"/>
              </a:defRPr>
            </a:pPr>
            <a:r>
              <a:t>Problem Statement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05840"/>
            <a:ext cx="10698480" cy="254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371600"/>
            <a:ext cx="1069848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000000"/>
                </a:solidFill>
                <a:latin typeface="Times New Roman"/>
              </a:defRPr>
            </a:pPr>
            <a:r>
              <a:t>- Security Constraint: IoT edge devices (sensors, smart cameras, medical monitors) collect sensitive data that must be encrypted immediately before transmission.</a:t>
            </a:r>
          </a:p>
          <a:p>
            <a:pPr>
              <a:spcAft>
                <a:spcPts val="800"/>
              </a:spcAft>
              <a:defRPr sz="1800">
                <a:solidFill>
                  <a:srgbClr val="000000"/>
                </a:solidFill>
                <a:latin typeface="Times New Roman"/>
              </a:defRPr>
            </a:pPr>
            <a:r>
              <a:t>- Hardware Constraint: Edge devices possess strictly limited CPU cycles, memory, and battery life.</a:t>
            </a:r>
          </a:p>
          <a:p>
            <a:pPr>
              <a:spcAft>
                <a:spcPts val="800"/>
              </a:spcAft>
              <a:defRPr sz="1800">
                <a:solidFill>
                  <a:srgbClr val="000000"/>
                </a:solidFill>
                <a:latin typeface="Times New Roman"/>
              </a:defRPr>
            </a:pPr>
            <a:r>
              <a:t>- Conventional Problem: Traditional standard encryption (like full hardware AES) may exhaust the resources of ultra-constrained devices (e.g., simple RFID tags or microcontrollers).</a:t>
            </a:r>
          </a:p>
          <a:p>
            <a:pPr>
              <a:spcAft>
                <a:spcPts val="800"/>
              </a:spcAft>
              <a:defRPr sz="1800">
                <a:solidFill>
                  <a:srgbClr val="000000"/>
                </a:solidFill>
                <a:latin typeface="Times New Roman"/>
              </a:defRPr>
            </a:pPr>
          </a:p>
          <a:p>
            <a:pPr>
              <a:spcAft>
                <a:spcPts val="800"/>
              </a:spcAft>
              <a:defRPr sz="1800">
                <a:solidFill>
                  <a:srgbClr val="000000"/>
                </a:solidFill>
                <a:latin typeface="Times New Roman"/>
              </a:defRPr>
            </a:pPr>
            <a:r>
              <a:t>Core Objective:</a:t>
            </a:r>
          </a:p>
          <a:p>
            <a:pPr>
              <a:spcAft>
                <a:spcPts val="800"/>
              </a:spcAft>
              <a:defRPr sz="1800">
                <a:solidFill>
                  <a:srgbClr val="000000"/>
                </a:solidFill>
                <a:latin typeface="Times New Roman"/>
              </a:defRPr>
            </a:pPr>
            <a:r>
              <a:t>To conduct a rigorous comparative evaluation of standard versus lightweight encryption algorithms -- measuring latency, throughput, CPU utilization, and memory footprint -- to identify the optimal algorithm for diverse edge environments.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E1E1E"/>
                </a:solidFill>
                <a:latin typeface="Times New Roman"/>
              </a:defRPr>
            </a:pPr>
            <a:r>
              <a:t>Justification for Problem Statement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05840"/>
            <a:ext cx="10698480" cy="254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371600"/>
            <a:ext cx="1069848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000000"/>
                </a:solidFill>
                <a:latin typeface="Times New Roman"/>
              </a:defRPr>
            </a:pPr>
            <a:r>
              <a:t>Why is this problem important?</a:t>
            </a:r>
          </a:p>
          <a:p>
            <a:pPr>
              <a:spcAft>
                <a:spcPts val="800"/>
              </a:spcAft>
              <a:defRPr sz="1600">
                <a:solidFill>
                  <a:srgbClr val="000000"/>
                </a:solidFill>
                <a:latin typeface="Times New Roman"/>
              </a:defRPr>
            </a:pPr>
          </a:p>
          <a:p>
            <a:pPr>
              <a:spcAft>
                <a:spcPts val="800"/>
              </a:spcAft>
              <a:defRPr sz="1600">
                <a:solidFill>
                  <a:srgbClr val="000000"/>
                </a:solidFill>
                <a:latin typeface="Times New Roman"/>
              </a:defRPr>
            </a:pPr>
            <a:r>
              <a:t>1. Explosive IoT Growth: By 2025, over 75 billion IoT devices are projected worldwide. Each device generates sensitive data requiring encryption.</a:t>
            </a:r>
          </a:p>
          <a:p>
            <a:pPr>
              <a:spcAft>
                <a:spcPts val="800"/>
              </a:spcAft>
              <a:defRPr sz="1600">
                <a:solidFill>
                  <a:srgbClr val="000000"/>
                </a:solidFill>
                <a:latin typeface="Times New Roman"/>
              </a:defRPr>
            </a:pPr>
          </a:p>
          <a:p>
            <a:pPr>
              <a:spcAft>
                <a:spcPts val="800"/>
              </a:spcAft>
              <a:defRPr sz="1600">
                <a:solidFill>
                  <a:srgbClr val="000000"/>
                </a:solidFill>
                <a:latin typeface="Times New Roman"/>
              </a:defRPr>
            </a:pPr>
            <a:r>
              <a:t>2. Edge Security Gap: Most IoT breaches occur at the edge. Encrypting data at the source (not in the cloud) prevents man-in-the-middle interception during transmission.</a:t>
            </a:r>
          </a:p>
          <a:p>
            <a:pPr>
              <a:spcAft>
                <a:spcPts val="800"/>
              </a:spcAft>
              <a:defRPr sz="1600">
                <a:solidFill>
                  <a:srgbClr val="000000"/>
                </a:solidFill>
                <a:latin typeface="Times New Roman"/>
              </a:defRPr>
            </a:pPr>
          </a:p>
          <a:p>
            <a:pPr>
              <a:spcAft>
                <a:spcPts val="800"/>
              </a:spcAft>
              <a:defRPr sz="1600">
                <a:solidFill>
                  <a:srgbClr val="000000"/>
                </a:solidFill>
                <a:latin typeface="Times New Roman"/>
              </a:defRPr>
            </a:pPr>
            <a:r>
              <a:t>3. Resource Mismatch: Standard AES requires dedicated hardware (AES-NI) that passive RFID tags and 8-bit microcontrollers simply do not have. Lightweight ciphers (PRESENT, SPECK) were specifically designed for these constraints.</a:t>
            </a:r>
          </a:p>
          <a:p>
            <a:pPr>
              <a:spcAft>
                <a:spcPts val="800"/>
              </a:spcAft>
              <a:defRPr sz="1600">
                <a:solidFill>
                  <a:srgbClr val="000000"/>
                </a:solidFill>
                <a:latin typeface="Times New Roman"/>
              </a:defRPr>
            </a:pPr>
          </a:p>
          <a:p>
            <a:pPr>
              <a:spcAft>
                <a:spcPts val="800"/>
              </a:spcAft>
              <a:defRPr sz="1600">
                <a:solidFill>
                  <a:srgbClr val="000000"/>
                </a:solidFill>
                <a:latin typeface="Times New Roman"/>
              </a:defRPr>
            </a:pPr>
            <a:r>
              <a:t>4. No Universal Solution: There is no single 'best' algorithm -- the optimal choice depends on whether the device has hardware acceleration, how much RAM/ROM is available, and the acceptable latency budget.</a:t>
            </a:r>
          </a:p>
          <a:p>
            <a:pPr>
              <a:spcAft>
                <a:spcPts val="800"/>
              </a:spcAft>
              <a:defRPr sz="1600">
                <a:solidFill>
                  <a:srgbClr val="000000"/>
                </a:solidFill>
                <a:latin typeface="Times New Roman"/>
              </a:defRPr>
            </a:pPr>
          </a:p>
          <a:p>
            <a:pPr>
              <a:spcAft>
                <a:spcPts val="800"/>
              </a:spcAft>
              <a:defRPr sz="1600">
                <a:solidFill>
                  <a:srgbClr val="000000"/>
                </a:solidFill>
                <a:latin typeface="Times New Roman"/>
              </a:defRPr>
            </a:pPr>
            <a:r>
              <a:t>5. Distributed Systems Relevance: In a real deployment, thousands of edge nodes must encrypt concurrently. Our benchmark measures not just individual cipher performance but system-wide scalability under parallel distributed workloads.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E1E1E"/>
                </a:solidFill>
                <a:latin typeface="Times New Roman"/>
              </a:defRPr>
            </a:pPr>
            <a:r>
              <a:t>Literature Survey (1/2)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05840"/>
            <a:ext cx="10698480" cy="254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188720"/>
          <a:ext cx="11247120" cy="5029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11780"/>
                <a:gridCol w="2811780"/>
                <a:gridCol w="2811780"/>
                <a:gridCol w="2811780"/>
              </a:tblGrid>
              <a:tr h="838200"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Times New Roman"/>
                        </a:defRPr>
                      </a:pPr>
                      <a:r>
                        <a:t>#</a:t>
                      </a:r>
                    </a:p>
                  </a:txBody>
                  <a:tcPr>
                    <a:solidFill>
                      <a:srgbClr val="1E1E1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Times New Roman"/>
                        </a:defRPr>
                      </a:pPr>
                      <a:r>
                        <a:t>Paper Title</a:t>
                      </a:r>
                    </a:p>
                  </a:txBody>
                  <a:tcPr>
                    <a:solidFill>
                      <a:srgbClr val="1E1E1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Times New Roman"/>
                        </a:defRPr>
                      </a:pPr>
                      <a:r>
                        <a:t>Authors / Year</a:t>
                      </a:r>
                    </a:p>
                  </a:txBody>
                  <a:tcPr>
                    <a:solidFill>
                      <a:srgbClr val="1E1E1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Times New Roman"/>
                        </a:defRPr>
                      </a:pPr>
                      <a:r>
                        <a:t>Key Contribution / Relevance</a:t>
                      </a:r>
                    </a:p>
                  </a:txBody>
                  <a:tcPr>
                    <a:solidFill>
                      <a:srgbClr val="1E1E1E"/>
                    </a:solidFill>
                  </a:tcPr>
                </a:tc>
              </a:tr>
              <a:tr h="838200">
                <a:tc>
                  <a:txBody>
                    <a:bodyPr/>
                    <a:lstStyle/>
                    <a:p>
                      <a:pPr algn="ctr">
                        <a:defRPr sz="1100">
                          <a:latin typeface="Times New Roman"/>
                        </a:defRPr>
                      </a:pPr>
                      <a:r>
                        <a:t>1</a:t>
                      </a:r>
                    </a:p>
                  </a:txBody>
                  <a:tcPr>
                    <a:solidFill>
                      <a:srgbClr val="F0F0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latin typeface="Times New Roman"/>
                        </a:defRPr>
                      </a:pPr>
                      <a:r>
                        <a:t>The Design of Rijndael: AES</a:t>
                      </a:r>
                    </a:p>
                  </a:txBody>
                  <a:tcPr>
                    <a:solidFill>
                      <a:srgbClr val="F0F0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latin typeface="Times New Roman"/>
                        </a:defRPr>
                      </a:pPr>
                      <a:r>
                        <a:t>Daemen &amp; Rijmen, 2002</a:t>
                      </a:r>
                    </a:p>
                  </a:txBody>
                  <a:tcPr>
                    <a:solidFill>
                      <a:srgbClr val="F0F0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latin typeface="Times New Roman"/>
                        </a:defRPr>
                      </a:pPr>
                      <a:r>
                        <a:t>Establishes AES block cipher. We use AES-256-GCM as industry-standard baseline.</a:t>
                      </a:r>
                    </a:p>
                  </a:txBody>
                  <a:tcPr>
                    <a:solidFill>
                      <a:srgbClr val="F0F0FF"/>
                    </a:solidFill>
                  </a:tcPr>
                </a:tc>
              </a:tr>
              <a:tr h="838200">
                <a:tc>
                  <a:txBody>
                    <a:bodyPr/>
                    <a:lstStyle/>
                    <a:p>
                      <a:pPr algn="ctr">
                        <a:defRPr sz="1100">
                          <a:latin typeface="Times New Roman"/>
                        </a:defRPr>
                      </a:pPr>
                      <a: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latin typeface="Times New Roman"/>
                        </a:defRPr>
                      </a:pPr>
                      <a:r>
                        <a:t>ChaCha, a variant of Salsa20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latin typeface="Times New Roman"/>
                        </a:defRPr>
                      </a:pPr>
                      <a:r>
                        <a:t>Bernstein D.J., 2008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latin typeface="Times New Roman"/>
                        </a:defRPr>
                      </a:pPr>
                      <a:r>
                        <a:t>ChaCha20 stream cipher excels in software without hardware crypto instructions.</a:t>
                      </a:r>
                    </a:p>
                  </a:txBody>
                  <a:tcPr/>
                </a:tc>
              </a:tr>
              <a:tr h="838200">
                <a:tc>
                  <a:txBody>
                    <a:bodyPr/>
                    <a:lstStyle/>
                    <a:p>
                      <a:pPr algn="ctr">
                        <a:defRPr sz="1100">
                          <a:latin typeface="Times New Roman"/>
                        </a:defRPr>
                      </a:pPr>
                      <a:r>
                        <a:t>3</a:t>
                      </a:r>
                    </a:p>
                  </a:txBody>
                  <a:tcPr>
                    <a:solidFill>
                      <a:srgbClr val="F0F0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latin typeface="Times New Roman"/>
                        </a:defRPr>
                      </a:pPr>
                      <a:r>
                        <a:t>PRESENT: An Ultra-Lightweight Block Cipher</a:t>
                      </a:r>
                    </a:p>
                  </a:txBody>
                  <a:tcPr>
                    <a:solidFill>
                      <a:srgbClr val="F0F0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latin typeface="Times New Roman"/>
                        </a:defRPr>
                      </a:pPr>
                      <a:r>
                        <a:t>Bogdanov et al., CHES 2007</a:t>
                      </a:r>
                    </a:p>
                  </a:txBody>
                  <a:tcPr>
                    <a:solidFill>
                      <a:srgbClr val="F0F0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latin typeface="Times New Roman"/>
                        </a:defRPr>
                      </a:pPr>
                      <a:r>
                        <a:t>SPN cipher for extreme constraints (~1,570 GE). Benchmarks lowest hardware tier.</a:t>
                      </a:r>
                    </a:p>
                  </a:txBody>
                  <a:tcPr>
                    <a:solidFill>
                      <a:srgbClr val="F0F0FF"/>
                    </a:solidFill>
                  </a:tcPr>
                </a:tc>
              </a:tr>
              <a:tr h="838200">
                <a:tc>
                  <a:txBody>
                    <a:bodyPr/>
                    <a:lstStyle/>
                    <a:p>
                      <a:pPr algn="ctr">
                        <a:defRPr sz="1100">
                          <a:latin typeface="Times New Roman"/>
                        </a:defRPr>
                      </a:pPr>
                      <a: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latin typeface="Times New Roman"/>
                        </a:defRPr>
                      </a:pPr>
                      <a:r>
                        <a:t>The SIMON and SPECK Families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latin typeface="Times New Roman"/>
                        </a:defRPr>
                      </a:pPr>
                      <a:r>
                        <a:t>Beaulieu et al., IACR 2013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latin typeface="Times New Roman"/>
                        </a:defRPr>
                      </a:pPr>
                      <a:r>
                        <a:t>SPECK-64/128 ARX cipher by NSA. 24 cycles/byte on ARM Cortex microcontrollers.</a:t>
                      </a:r>
                    </a:p>
                  </a:txBody>
                  <a:tcPr/>
                </a:tc>
              </a:tr>
              <a:tr h="838200">
                <a:tc>
                  <a:txBody>
                    <a:bodyPr/>
                    <a:lstStyle/>
                    <a:p>
                      <a:pPr algn="ctr">
                        <a:defRPr sz="1100">
                          <a:latin typeface="Times New Roman"/>
                        </a:defRPr>
                      </a:pPr>
                      <a:r>
                        <a:t>5</a:t>
                      </a:r>
                    </a:p>
                  </a:txBody>
                  <a:tcPr>
                    <a:solidFill>
                      <a:srgbClr val="F0F0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latin typeface="Times New Roman"/>
                        </a:defRPr>
                      </a:pPr>
                      <a:r>
                        <a:t>Lightweight Crypto for IoT Devices</a:t>
                      </a:r>
                    </a:p>
                  </a:txBody>
                  <a:tcPr>
                    <a:solidFill>
                      <a:srgbClr val="F0F0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latin typeface="Times New Roman"/>
                        </a:defRPr>
                      </a:pPr>
                      <a:r>
                        <a:t>Thakor et al., IEEE Access 2021</a:t>
                      </a:r>
                    </a:p>
                  </a:txBody>
                  <a:tcPr>
                    <a:solidFill>
                      <a:srgbClr val="F0F0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latin typeface="Times New Roman"/>
                        </a:defRPr>
                      </a:pPr>
                      <a:r>
                        <a:t>Comparative framework for latency, throughput, memory. Our methodology mirrors this.</a:t>
                      </a:r>
                    </a:p>
                  </a:txBody>
                  <a:tcPr>
                    <a:solidFill>
                      <a:srgbClr val="F0F0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E1E1E"/>
                </a:solidFill>
                <a:latin typeface="Times New Roman"/>
              </a:defRPr>
            </a:pPr>
            <a:r>
              <a:t>Literature Survey (2/2)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05840"/>
            <a:ext cx="10698480" cy="254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188720"/>
          <a:ext cx="11247120" cy="5029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11780"/>
                <a:gridCol w="2811780"/>
                <a:gridCol w="2811780"/>
                <a:gridCol w="2811780"/>
              </a:tblGrid>
              <a:tr h="838200"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Times New Roman"/>
                        </a:defRPr>
                      </a:pPr>
                      <a:r>
                        <a:t>#</a:t>
                      </a:r>
                    </a:p>
                  </a:txBody>
                  <a:tcPr>
                    <a:solidFill>
                      <a:srgbClr val="1E1E1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Times New Roman"/>
                        </a:defRPr>
                      </a:pPr>
                      <a:r>
                        <a:t>Paper Title</a:t>
                      </a:r>
                    </a:p>
                  </a:txBody>
                  <a:tcPr>
                    <a:solidFill>
                      <a:srgbClr val="1E1E1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Times New Roman"/>
                        </a:defRPr>
                      </a:pPr>
                      <a:r>
                        <a:t>Authors / Year</a:t>
                      </a:r>
                    </a:p>
                  </a:txBody>
                  <a:tcPr>
                    <a:solidFill>
                      <a:srgbClr val="1E1E1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Times New Roman"/>
                        </a:defRPr>
                      </a:pPr>
                      <a:r>
                        <a:t>Key Contribution / Relevance</a:t>
                      </a:r>
                    </a:p>
                  </a:txBody>
                  <a:tcPr>
                    <a:solidFill>
                      <a:srgbClr val="1E1E1E"/>
                    </a:solidFill>
                  </a:tcPr>
                </a:tc>
              </a:tr>
              <a:tr h="838200">
                <a:tc>
                  <a:txBody>
                    <a:bodyPr/>
                    <a:lstStyle/>
                    <a:p>
                      <a:pPr algn="ctr">
                        <a:defRPr sz="1100">
                          <a:latin typeface="Times New Roman"/>
                        </a:defRPr>
                      </a:pPr>
                      <a:r>
                        <a:t>6</a:t>
                      </a:r>
                    </a:p>
                  </a:txBody>
                  <a:tcPr>
                    <a:solidFill>
                      <a:srgbClr val="F0F0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latin typeface="Times New Roman"/>
                        </a:defRPr>
                      </a:pPr>
                      <a:r>
                        <a:t>Wireless Sensor Networks: A Survey</a:t>
                      </a:r>
                    </a:p>
                  </a:txBody>
                  <a:tcPr>
                    <a:solidFill>
                      <a:srgbClr val="F0F0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latin typeface="Times New Roman"/>
                        </a:defRPr>
                      </a:pPr>
                      <a:r>
                        <a:t>Akyildiz et al., Comp. Networks 2002</a:t>
                      </a:r>
                    </a:p>
                  </a:txBody>
                  <a:tcPr>
                    <a:solidFill>
                      <a:srgbClr val="F0F0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latin typeface="Times New Roman"/>
                        </a:defRPr>
                      </a:pPr>
                      <a:r>
                        <a:t>Node count scales with area x density (N=AxD). Informs our distributed simulation.</a:t>
                      </a:r>
                    </a:p>
                  </a:txBody>
                  <a:tcPr>
                    <a:solidFill>
                      <a:srgbClr val="F0F0FF"/>
                    </a:solidFill>
                  </a:tcPr>
                </a:tc>
              </a:tr>
              <a:tr h="838200">
                <a:tc>
                  <a:txBody>
                    <a:bodyPr/>
                    <a:lstStyle/>
                    <a:p>
                      <a:pPr algn="ctr">
                        <a:defRPr sz="1100">
                          <a:latin typeface="Times New Roman"/>
                        </a:defRPr>
                      </a:pPr>
                      <a:r>
                        <a:t>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latin typeface="Times New Roman"/>
                        </a:defRPr>
                      </a:pPr>
                      <a:r>
                        <a:t>Edge Computing: Vision and Challenges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latin typeface="Times New Roman"/>
                        </a:defRPr>
                      </a:pPr>
                      <a:r>
                        <a:t>Shi et al., IEEE IoT Journal 2016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latin typeface="Times New Roman"/>
                        </a:defRPr>
                      </a:pPr>
                      <a:r>
                        <a:t>Defines edge computing paradigm. Justifies why encryption must occur at edge, not cloud.</a:t>
                      </a:r>
                    </a:p>
                  </a:txBody>
                  <a:tcPr/>
                </a:tc>
              </a:tr>
              <a:tr h="838200">
                <a:tc>
                  <a:txBody>
                    <a:bodyPr/>
                    <a:lstStyle/>
                    <a:p>
                      <a:pPr algn="ctr">
                        <a:defRPr sz="1100">
                          <a:latin typeface="Times New Roman"/>
                        </a:defRPr>
                      </a:pPr>
                      <a:r>
                        <a:t>8</a:t>
                      </a:r>
                    </a:p>
                  </a:txBody>
                  <a:tcPr>
                    <a:solidFill>
                      <a:srgbClr val="F0F0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latin typeface="Times New Roman"/>
                        </a:defRPr>
                      </a:pPr>
                      <a:r>
                        <a:t>The Internet of Things: A Survey</a:t>
                      </a:r>
                    </a:p>
                  </a:txBody>
                  <a:tcPr>
                    <a:solidFill>
                      <a:srgbClr val="F0F0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latin typeface="Times New Roman"/>
                        </a:defRPr>
                      </a:pPr>
                      <a:r>
                        <a:t>Li et al., Inf. Systems Frontiers 2015</a:t>
                      </a:r>
                    </a:p>
                  </a:txBody>
                  <a:tcPr>
                    <a:solidFill>
                      <a:srgbClr val="F0F0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latin typeface="Times New Roman"/>
                        </a:defRPr>
                      </a:pPr>
                      <a:r>
                        <a:t>Comprehensive IoT architecture survey. Validates our sensor data model and edge constraints.</a:t>
                      </a:r>
                    </a:p>
                  </a:txBody>
                  <a:tcPr>
                    <a:solidFill>
                      <a:srgbClr val="F0F0FF"/>
                    </a:solidFill>
                  </a:tcPr>
                </a:tc>
              </a:tr>
              <a:tr h="838200">
                <a:tc>
                  <a:txBody>
                    <a:bodyPr/>
                    <a:lstStyle/>
                    <a:p>
                      <a:pPr algn="ctr">
                        <a:defRPr sz="1100">
                          <a:latin typeface="Times New Roman"/>
                        </a:defRPr>
                      </a:pPr>
                      <a:r>
                        <a:t>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latin typeface="Times New Roman"/>
                        </a:defRPr>
                      </a:pPr>
                      <a:r>
                        <a:t>Report on Lightweight Cryptography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latin typeface="Times New Roman"/>
                        </a:defRPr>
                      </a:pPr>
                      <a:r>
                        <a:t>McKay et al., NIST IR 8114, 2017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latin typeface="Times New Roman"/>
                        </a:defRPr>
                      </a:pPr>
                      <a:r>
                        <a:t>NIST guidelines for lightweight crypto selection. Frames our algorithm comparison criteria.</a:t>
                      </a:r>
                    </a:p>
                  </a:txBody>
                  <a:tcPr/>
                </a:tc>
              </a:tr>
              <a:tr h="838200">
                <a:tc>
                  <a:txBody>
                    <a:bodyPr/>
                    <a:lstStyle/>
                    <a:p>
                      <a:pPr algn="ctr">
                        <a:defRPr sz="1100">
                          <a:latin typeface="Times New Roman"/>
                        </a:defRPr>
                      </a:pPr>
                      <a:r>
                        <a:t>10</a:t>
                      </a:r>
                    </a:p>
                  </a:txBody>
                  <a:tcPr>
                    <a:solidFill>
                      <a:srgbClr val="F0F0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latin typeface="Times New Roman"/>
                        </a:defRPr>
                      </a:pPr>
                      <a:r>
                        <a:t>Review of Lightweight Block Ciphers</a:t>
                      </a:r>
                    </a:p>
                  </a:txBody>
                  <a:tcPr>
                    <a:solidFill>
                      <a:srgbClr val="F0F0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latin typeface="Times New Roman"/>
                        </a:defRPr>
                      </a:pPr>
                      <a:r>
                        <a:t>Hatzivasilis et al., J. Crypto. Eng. 2018</a:t>
                      </a:r>
                    </a:p>
                  </a:txBody>
                  <a:tcPr>
                    <a:solidFill>
                      <a:srgbClr val="F0F0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latin typeface="Times New Roman"/>
                        </a:defRPr>
                      </a:pPr>
                      <a:r>
                        <a:t>Systematic review of PRESENT, SPECK, SIMON. Validates our from-scratch implementation approach.</a:t>
                      </a:r>
                    </a:p>
                  </a:txBody>
                  <a:tcPr>
                    <a:solidFill>
                      <a:srgbClr val="F0F0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E1E1E"/>
                </a:solidFill>
                <a:latin typeface="Times New Roman"/>
              </a:defRPr>
            </a:pPr>
            <a:r>
              <a:t>Dataset Generation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05840"/>
            <a:ext cx="10698480" cy="254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371600"/>
            <a:ext cx="1069848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000000"/>
                </a:solidFill>
                <a:latin typeface="Times New Roman"/>
              </a:defRPr>
            </a:pPr>
            <a:r>
              <a:t>Synthetic IoT Sensor Data:</a:t>
            </a:r>
          </a:p>
          <a:p>
            <a:pPr>
              <a:spcAft>
                <a:spcPts val="800"/>
              </a:spcAft>
              <a:defRPr sz="1600">
                <a:solidFill>
                  <a:srgbClr val="000000"/>
                </a:solidFill>
                <a:latin typeface="Times New Roman"/>
              </a:defRPr>
            </a:pPr>
            <a:r>
              <a:t>- We generate realistic JSON payloads mimicking IoT sensor telemetry streams.</a:t>
            </a:r>
          </a:p>
          <a:p>
            <a:pPr>
              <a:spcAft>
                <a:spcPts val="800"/>
              </a:spcAft>
              <a:defRPr sz="1600">
                <a:solidFill>
                  <a:srgbClr val="000000"/>
                </a:solidFill>
                <a:latin typeface="Times New Roman"/>
              </a:defRPr>
            </a:pPr>
            <a:r>
              <a:t>- Each record contains: timestamp, device_id, temperature_c, humidity_pct, pressure_hpa, light_lux, sensor_voltage, status.</a:t>
            </a:r>
          </a:p>
          <a:p>
            <a:pPr>
              <a:spcAft>
                <a:spcPts val="800"/>
              </a:spcAft>
              <a:defRPr sz="1600">
                <a:solidFill>
                  <a:srgbClr val="000000"/>
                </a:solidFill>
                <a:latin typeface="Times New Roman"/>
              </a:defRPr>
            </a:pPr>
          </a:p>
          <a:p>
            <a:pPr>
              <a:spcAft>
                <a:spcPts val="800"/>
              </a:spcAft>
              <a:defRPr sz="1600">
                <a:solidFill>
                  <a:srgbClr val="000000"/>
                </a:solidFill>
                <a:latin typeface="Times New Roman"/>
              </a:defRPr>
            </a:pPr>
            <a:r>
              <a:t>Data Sizes Used: 1KB, 10KB, 100KB</a:t>
            </a:r>
          </a:p>
          <a:p>
            <a:pPr>
              <a:spcAft>
                <a:spcPts val="800"/>
              </a:spcAft>
              <a:defRPr sz="1600">
                <a:solidFill>
                  <a:srgbClr val="000000"/>
                </a:solidFill>
                <a:latin typeface="Times New Roman"/>
              </a:defRPr>
            </a:pPr>
            <a:r>
              <a:t>- 1KB: Single sensor reading (~5 JSON records) -- typical RFID/smart card payload.</a:t>
            </a:r>
          </a:p>
          <a:p>
            <a:pPr>
              <a:spcAft>
                <a:spcPts val="800"/>
              </a:spcAft>
              <a:defRPr sz="1600">
                <a:solidFill>
                  <a:srgbClr val="000000"/>
                </a:solidFill>
                <a:latin typeface="Times New Roman"/>
              </a:defRPr>
            </a:pPr>
            <a:r>
              <a:t>- 10KB: Small batch of readings (~50 records) -- typical for periodic sensor uploads.</a:t>
            </a:r>
          </a:p>
          <a:p>
            <a:pPr>
              <a:spcAft>
                <a:spcPts val="800"/>
              </a:spcAft>
              <a:defRPr sz="1600">
                <a:solidFill>
                  <a:srgbClr val="000000"/>
                </a:solidFill>
                <a:latin typeface="Times New Roman"/>
              </a:defRPr>
            </a:pPr>
            <a:r>
              <a:t>- 100KB: Larger aggregated batch (~500 records) -- typical for edge gateway aggregation.</a:t>
            </a:r>
          </a:p>
          <a:p>
            <a:pPr>
              <a:spcAft>
                <a:spcPts val="800"/>
              </a:spcAft>
              <a:defRPr sz="1600">
                <a:solidFill>
                  <a:srgbClr val="000000"/>
                </a:solidFill>
                <a:latin typeface="Times New Roman"/>
              </a:defRPr>
            </a:pPr>
          </a:p>
          <a:p>
            <a:pPr>
              <a:spcAft>
                <a:spcPts val="800"/>
              </a:spcAft>
              <a:defRPr sz="1600">
                <a:solidFill>
                  <a:srgbClr val="000000"/>
                </a:solidFill>
                <a:latin typeface="Times New Roman"/>
              </a:defRPr>
            </a:pPr>
            <a:r>
              <a:t>Generation Strategy:</a:t>
            </a:r>
          </a:p>
          <a:p>
            <a:pPr>
              <a:spcAft>
                <a:spcPts val="800"/>
              </a:spcAft>
              <a:defRPr sz="1600">
                <a:solidFill>
                  <a:srgbClr val="000000"/>
                </a:solidFill>
                <a:latin typeface="Times New Roman"/>
              </a:defRPr>
            </a:pPr>
            <a:r>
              <a:t>- Records are accumulated until the serialized JSON meets the target byte size.</a:t>
            </a:r>
          </a:p>
          <a:p>
            <a:pPr>
              <a:spcAft>
                <a:spcPts val="800"/>
              </a:spcAft>
              <a:defRPr sz="1600">
                <a:solidFill>
                  <a:srgbClr val="000000"/>
                </a:solidFill>
                <a:latin typeface="Times New Roman"/>
              </a:defRPr>
            </a:pPr>
            <a:r>
              <a:t>- Data is then padded or trimmed to exactly match the requested size.</a:t>
            </a:r>
          </a:p>
          <a:p>
            <a:pPr>
              <a:spcAft>
                <a:spcPts val="800"/>
              </a:spcAft>
              <a:defRPr sz="1600">
                <a:solidFill>
                  <a:srgbClr val="000000"/>
                </a:solidFill>
                <a:latin typeface="Times New Roman"/>
              </a:defRPr>
            </a:pPr>
            <a:r>
              <a:t>- The same data is used across all algorithms at each size for fair comparison.</a:t>
            </a:r>
          </a:p>
          <a:p>
            <a:pPr>
              <a:spcAft>
                <a:spcPts val="800"/>
              </a:spcAft>
              <a:defRPr sz="1600">
                <a:solidFill>
                  <a:srgbClr val="000000"/>
                </a:solidFill>
                <a:latin typeface="Times New Roman"/>
              </a:defRPr>
            </a:pPr>
          </a:p>
          <a:p>
            <a:pPr>
              <a:spcAft>
                <a:spcPts val="800"/>
              </a:spcAft>
              <a:defRPr sz="1600">
                <a:solidFill>
                  <a:srgbClr val="000000"/>
                </a:solidFill>
                <a:latin typeface="Times New Roman"/>
              </a:defRPr>
            </a:pPr>
            <a:r>
              <a:t>Total Benchmark Matrix: 4 algorithms x 3 sizes x 5 iterations x 2 ops (enc+dec) = 120 runs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E1E1E"/>
                </a:solidFill>
                <a:latin typeface="Times New Roman"/>
              </a:defRPr>
            </a:pPr>
            <a:r>
              <a:t>System Architecture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05840"/>
            <a:ext cx="10698480" cy="254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architecture_diagr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0" y="1188720"/>
            <a:ext cx="9418320" cy="53035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E1E1E"/>
                </a:solidFill>
                <a:latin typeface="Times New Roman"/>
              </a:defRPr>
            </a:pPr>
            <a:r>
              <a:t>Overall Execution Flow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05840"/>
            <a:ext cx="10698480" cy="254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371600"/>
            <a:ext cx="1069848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000000"/>
                </a:solidFill>
                <a:latin typeface="Times New Roman"/>
              </a:defRPr>
            </a:pPr>
            <a:r>
              <a:t>Step 1: Data Generation --&gt; generate_iot_data(size_bytes) creates synthetic IoT JSON payloads of exact target size.</a:t>
            </a:r>
          </a:p>
          <a:p>
            <a:pPr>
              <a:spcAft>
                <a:spcPts val="800"/>
              </a:spcAft>
              <a:defRPr sz="1600">
                <a:solidFill>
                  <a:srgbClr val="000000"/>
                </a:solidFill>
                <a:latin typeface="Times New Roman"/>
              </a:defRPr>
            </a:pPr>
          </a:p>
          <a:p>
            <a:pPr>
              <a:spcAft>
                <a:spcPts val="800"/>
              </a:spcAft>
              <a:defRPr sz="1600">
                <a:solidFill>
                  <a:srgbClr val="000000"/>
                </a:solidFill>
                <a:latin typeface="Times New Roman"/>
              </a:defRPr>
            </a:pPr>
            <a:r>
              <a:t>Step 2: Key Generation --&gt; Each algorithm module generates a cryptographic key (AES: 256-bit, ChaCha20: 256-bit, PRESENT: 80-bit, SPECK: 128-bit).</a:t>
            </a:r>
          </a:p>
          <a:p>
            <a:pPr>
              <a:spcAft>
                <a:spcPts val="800"/>
              </a:spcAft>
              <a:defRPr sz="1600">
                <a:solidFill>
                  <a:srgbClr val="000000"/>
                </a:solidFill>
                <a:latin typeface="Times New Roman"/>
              </a:defRPr>
            </a:pPr>
          </a:p>
          <a:p>
            <a:pPr>
              <a:spcAft>
                <a:spcPts val="800"/>
              </a:spcAft>
              <a:defRPr sz="1600">
                <a:solidFill>
                  <a:srgbClr val="000000"/>
                </a:solidFill>
                <a:latin typeface="Times New Roman"/>
              </a:defRPr>
            </a:pPr>
            <a:r>
              <a:t>Step 3: Benchmarked Encryption --&gt; BenchmarkProfiler context manager wraps encrypt(data, key). Captures wall-clock time, CPU%, peak memory, throughput.</a:t>
            </a:r>
          </a:p>
          <a:p>
            <a:pPr>
              <a:spcAft>
                <a:spcPts val="800"/>
              </a:spcAft>
              <a:defRPr sz="1600">
                <a:solidFill>
                  <a:srgbClr val="000000"/>
                </a:solidFill>
                <a:latin typeface="Times New Roman"/>
              </a:defRPr>
            </a:pPr>
          </a:p>
          <a:p>
            <a:pPr>
              <a:spcAft>
                <a:spcPts val="800"/>
              </a:spcAft>
              <a:defRPr sz="1600">
                <a:solidFill>
                  <a:srgbClr val="000000"/>
                </a:solidFill>
                <a:latin typeface="Times New Roman"/>
              </a:defRPr>
            </a:pPr>
            <a:r>
              <a:t>Step 4: Simulated Edge Transmission --&gt; 50ms delay injected between encrypt and decrypt to model real edge-to-cloud network latency.</a:t>
            </a:r>
          </a:p>
          <a:p>
            <a:pPr>
              <a:spcAft>
                <a:spcPts val="800"/>
              </a:spcAft>
              <a:defRPr sz="1600">
                <a:solidFill>
                  <a:srgbClr val="000000"/>
                </a:solidFill>
                <a:latin typeface="Times New Roman"/>
              </a:defRPr>
            </a:pPr>
          </a:p>
          <a:p>
            <a:pPr>
              <a:spcAft>
                <a:spcPts val="800"/>
              </a:spcAft>
              <a:defRPr sz="1600">
                <a:solidFill>
                  <a:srgbClr val="000000"/>
                </a:solidFill>
                <a:latin typeface="Times New Roman"/>
              </a:defRPr>
            </a:pPr>
            <a:r>
              <a:t>Step 5: Benchmarked Decryption --&gt; Same profiler wraps decrypt(nonce, ciphertext, tag, key). Integrity assertion: decrypted == original data.</a:t>
            </a:r>
          </a:p>
          <a:p>
            <a:pPr>
              <a:spcAft>
                <a:spcPts val="800"/>
              </a:spcAft>
              <a:defRPr sz="1600">
                <a:solidFill>
                  <a:srgbClr val="000000"/>
                </a:solidFill>
                <a:latin typeface="Times New Roman"/>
              </a:defRPr>
            </a:pPr>
          </a:p>
          <a:p>
            <a:pPr>
              <a:spcAft>
                <a:spcPts val="800"/>
              </a:spcAft>
              <a:defRPr sz="1600">
                <a:solidFill>
                  <a:srgbClr val="000000"/>
                </a:solidFill>
                <a:latin typeface="Times New Roman"/>
              </a:defRPr>
            </a:pPr>
            <a:r>
              <a:t>Step 6: Results Aggregation --&gt; All 120 measurements saved to CSV/JSON. Pandas aggregation computes averages. Matplotlib generates 6 comparison graphs.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E1E1E"/>
                </a:solidFill>
                <a:latin typeface="Times New Roman"/>
              </a:defRPr>
            </a:pPr>
            <a:r>
              <a:t>Encryption Algorithm Models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05840"/>
            <a:ext cx="10698480" cy="254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188720"/>
          <a:ext cx="11247120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49424"/>
                <a:gridCol w="2249424"/>
                <a:gridCol w="2249424"/>
                <a:gridCol w="2249424"/>
                <a:gridCol w="2249424"/>
              </a:tblGrid>
              <a:tr h="285750"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Times New Roman"/>
                        </a:defRPr>
                      </a:pPr>
                      <a:r>
                        <a:t>Property</a:t>
                      </a:r>
                    </a:p>
                  </a:txBody>
                  <a:tcPr>
                    <a:solidFill>
                      <a:srgbClr val="1E1E1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Times New Roman"/>
                        </a:defRPr>
                      </a:pPr>
                      <a:r>
                        <a:t>AES-256-GCM</a:t>
                      </a:r>
                    </a:p>
                  </a:txBody>
                  <a:tcPr>
                    <a:solidFill>
                      <a:srgbClr val="1E1E1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Times New Roman"/>
                        </a:defRPr>
                      </a:pPr>
                      <a:r>
                        <a:t>ChaCha20-Poly1305</a:t>
                      </a:r>
                    </a:p>
                  </a:txBody>
                  <a:tcPr>
                    <a:solidFill>
                      <a:srgbClr val="1E1E1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Times New Roman"/>
                        </a:defRPr>
                      </a:pPr>
                      <a:r>
                        <a:t>PRESENT-80</a:t>
                      </a:r>
                    </a:p>
                  </a:txBody>
                  <a:tcPr>
                    <a:solidFill>
                      <a:srgbClr val="1E1E1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Times New Roman"/>
                        </a:defRPr>
                      </a:pPr>
                      <a:r>
                        <a:t>SPECK-64/128</a:t>
                      </a:r>
                    </a:p>
                  </a:txBody>
                  <a:tcPr>
                    <a:solidFill>
                      <a:srgbClr val="1E1E1E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>
                      <a:pPr algn="ctr">
                        <a:defRPr sz="1100">
                          <a:latin typeface="Times New Roman"/>
                        </a:defRPr>
                      </a:pPr>
                      <a:r>
                        <a:t>Type</a:t>
                      </a:r>
                    </a:p>
                  </a:txBody>
                  <a:tcPr>
                    <a:solidFill>
                      <a:srgbClr val="F0F0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latin typeface="Times New Roman"/>
                        </a:defRPr>
                      </a:pPr>
                      <a:r>
                        <a:t>Block Cipher</a:t>
                      </a:r>
                    </a:p>
                  </a:txBody>
                  <a:tcPr>
                    <a:solidFill>
                      <a:srgbClr val="F0F0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latin typeface="Times New Roman"/>
                        </a:defRPr>
                      </a:pPr>
                      <a:r>
                        <a:t>Stream Cipher</a:t>
                      </a:r>
                    </a:p>
                  </a:txBody>
                  <a:tcPr>
                    <a:solidFill>
                      <a:srgbClr val="F0F0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latin typeface="Times New Roman"/>
                        </a:defRPr>
                      </a:pPr>
                      <a:r>
                        <a:t>Block Cipher (Lightweight)</a:t>
                      </a:r>
                    </a:p>
                  </a:txBody>
                  <a:tcPr>
                    <a:solidFill>
                      <a:srgbClr val="F0F0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latin typeface="Times New Roman"/>
                        </a:defRPr>
                      </a:pPr>
                      <a:r>
                        <a:t>Block Cipher (Lightweight)</a:t>
                      </a:r>
                    </a:p>
                  </a:txBody>
                  <a:tcPr>
                    <a:solidFill>
                      <a:srgbClr val="F0F0FF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>
                      <a:pPr algn="ctr">
                        <a:defRPr sz="1100">
                          <a:latin typeface="Times New Roman"/>
                        </a:defRPr>
                      </a:pPr>
                      <a:r>
                        <a:t>Structure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latin typeface="Times New Roman"/>
                        </a:defRPr>
                      </a:pPr>
                      <a:r>
                        <a:t>SPN (SubBytes, ShiftRows, MixColumns)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latin typeface="Times New Roman"/>
                        </a:defRPr>
                      </a:pPr>
                      <a:r>
                        <a:t>ARX (Add, Rotate, XOR)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latin typeface="Times New Roman"/>
                        </a:defRPr>
                      </a:pPr>
                      <a:r>
                        <a:t>SPN (4-bit S-Box + P-Box)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latin typeface="Times New Roman"/>
                        </a:defRPr>
                      </a:pPr>
                      <a:r>
                        <a:t>ARX (Add, Rotate, XOR)</a:t>
                      </a:r>
                    </a:p>
                  </a:txBody>
                  <a:tcPr/>
                </a:tc>
              </a:tr>
              <a:tr h="285750">
                <a:tc>
                  <a:txBody>
                    <a:bodyPr/>
                    <a:lstStyle/>
                    <a:p>
                      <a:pPr algn="ctr">
                        <a:defRPr sz="1100">
                          <a:latin typeface="Times New Roman"/>
                        </a:defRPr>
                      </a:pPr>
                      <a:r>
                        <a:t>Block Size</a:t>
                      </a:r>
                    </a:p>
                  </a:txBody>
                  <a:tcPr>
                    <a:solidFill>
                      <a:srgbClr val="F0F0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latin typeface="Times New Roman"/>
                        </a:defRPr>
                      </a:pPr>
                      <a:r>
                        <a:t>128 bits</a:t>
                      </a:r>
                    </a:p>
                  </a:txBody>
                  <a:tcPr>
                    <a:solidFill>
                      <a:srgbClr val="F0F0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latin typeface="Times New Roman"/>
                        </a:defRPr>
                      </a:pPr>
                      <a:r>
                        <a:t>N/A (stream)</a:t>
                      </a:r>
                    </a:p>
                  </a:txBody>
                  <a:tcPr>
                    <a:solidFill>
                      <a:srgbClr val="F0F0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latin typeface="Times New Roman"/>
                        </a:defRPr>
                      </a:pPr>
                      <a:r>
                        <a:t>64 bits</a:t>
                      </a:r>
                    </a:p>
                  </a:txBody>
                  <a:tcPr>
                    <a:solidFill>
                      <a:srgbClr val="F0F0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latin typeface="Times New Roman"/>
                        </a:defRPr>
                      </a:pPr>
                      <a:r>
                        <a:t>64 bits</a:t>
                      </a:r>
                    </a:p>
                  </a:txBody>
                  <a:tcPr>
                    <a:solidFill>
                      <a:srgbClr val="F0F0FF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>
                      <a:pPr algn="ctr">
                        <a:defRPr sz="1100">
                          <a:latin typeface="Times New Roman"/>
                        </a:defRPr>
                      </a:pPr>
                      <a:r>
                        <a:t>Key Size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latin typeface="Times New Roman"/>
                        </a:defRPr>
                      </a:pPr>
                      <a:r>
                        <a:t>256 bits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latin typeface="Times New Roman"/>
                        </a:defRPr>
                      </a:pPr>
                      <a:r>
                        <a:t>256 bits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latin typeface="Times New Roman"/>
                        </a:defRPr>
                      </a:pPr>
                      <a:r>
                        <a:t>80 bits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latin typeface="Times New Roman"/>
                        </a:defRPr>
                      </a:pPr>
                      <a:r>
                        <a:t>128 bits</a:t>
                      </a:r>
                    </a:p>
                  </a:txBody>
                  <a:tcPr/>
                </a:tc>
              </a:tr>
              <a:tr h="285750">
                <a:tc>
                  <a:txBody>
                    <a:bodyPr/>
                    <a:lstStyle/>
                    <a:p>
                      <a:pPr algn="ctr">
                        <a:defRPr sz="1100">
                          <a:latin typeface="Times New Roman"/>
                        </a:defRPr>
                      </a:pPr>
                      <a:r>
                        <a:t>Rounds</a:t>
                      </a:r>
                    </a:p>
                  </a:txBody>
                  <a:tcPr>
                    <a:solidFill>
                      <a:srgbClr val="F0F0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latin typeface="Times New Roman"/>
                        </a:defRPr>
                      </a:pPr>
                      <a:r>
                        <a:t>14</a:t>
                      </a:r>
                    </a:p>
                  </a:txBody>
                  <a:tcPr>
                    <a:solidFill>
                      <a:srgbClr val="F0F0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latin typeface="Times New Roman"/>
                        </a:defRPr>
                      </a:pPr>
                      <a:r>
                        <a:t>20 quarter-rounds</a:t>
                      </a:r>
                    </a:p>
                  </a:txBody>
                  <a:tcPr>
                    <a:solidFill>
                      <a:srgbClr val="F0F0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latin typeface="Times New Roman"/>
                        </a:defRPr>
                      </a:pPr>
                      <a:r>
                        <a:t>31</a:t>
                      </a:r>
                    </a:p>
                  </a:txBody>
                  <a:tcPr>
                    <a:solidFill>
                      <a:srgbClr val="F0F0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latin typeface="Times New Roman"/>
                        </a:defRPr>
                      </a:pPr>
                      <a:r>
                        <a:t>27</a:t>
                      </a:r>
                    </a:p>
                  </a:txBody>
                  <a:tcPr>
                    <a:solidFill>
                      <a:srgbClr val="F0F0FF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>
                      <a:pPr algn="ctr">
                        <a:defRPr sz="1100">
                          <a:latin typeface="Times New Roman"/>
                        </a:defRPr>
                      </a:pPr>
                      <a:r>
                        <a:t>Auth Mode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latin typeface="Times New Roman"/>
                        </a:defRPr>
                      </a:pPr>
                      <a:r>
                        <a:t>GCM (GHASH)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latin typeface="Times New Roman"/>
                        </a:defRPr>
                      </a:pPr>
                      <a:r>
                        <a:t>Poly1305 MAC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latin typeface="Times New Roman"/>
                        </a:defRPr>
                      </a:pPr>
                      <a:r>
                        <a:t>CTR + HMAC-SHA256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latin typeface="Times New Roman"/>
                        </a:defRPr>
                      </a:pPr>
                      <a:r>
                        <a:t>CTR + HMAC-SHA256</a:t>
                      </a:r>
                    </a:p>
                  </a:txBody>
                  <a:tcPr/>
                </a:tc>
              </a:tr>
              <a:tr h="285750">
                <a:tc>
                  <a:txBody>
                    <a:bodyPr/>
                    <a:lstStyle/>
                    <a:p>
                      <a:pPr algn="ctr">
                        <a:defRPr sz="1100">
                          <a:latin typeface="Times New Roman"/>
                        </a:defRPr>
                      </a:pPr>
                      <a:r>
                        <a:t>Gate Count</a:t>
                      </a:r>
                    </a:p>
                  </a:txBody>
                  <a:tcPr>
                    <a:solidFill>
                      <a:srgbClr val="F0F0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latin typeface="Times New Roman"/>
                        </a:defRPr>
                      </a:pPr>
                      <a:r>
                        <a:t>~50,000 GE</a:t>
                      </a:r>
                    </a:p>
                  </a:txBody>
                  <a:tcPr>
                    <a:solidFill>
                      <a:srgbClr val="F0F0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latin typeface="Times New Roman"/>
                        </a:defRPr>
                      </a:pPr>
                      <a:r>
                        <a:t>~38,000 GE</a:t>
                      </a:r>
                    </a:p>
                  </a:txBody>
                  <a:tcPr>
                    <a:solidFill>
                      <a:srgbClr val="F0F0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latin typeface="Times New Roman"/>
                        </a:defRPr>
                      </a:pPr>
                      <a:r>
                        <a:t>~1,570 GE</a:t>
                      </a:r>
                    </a:p>
                  </a:txBody>
                  <a:tcPr>
                    <a:solidFill>
                      <a:srgbClr val="F0F0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latin typeface="Times New Roman"/>
                        </a:defRPr>
                      </a:pPr>
                      <a:r>
                        <a:t>~2,400 GE</a:t>
                      </a:r>
                    </a:p>
                  </a:txBody>
                  <a:tcPr>
                    <a:solidFill>
                      <a:srgbClr val="F0F0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E1E1E"/>
                </a:solidFill>
                <a:latin typeface="Times New Roman"/>
              </a:defRPr>
            </a:pPr>
            <a:r>
              <a:t>Algorithm Methodology (Detailed)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05840"/>
            <a:ext cx="10698480" cy="254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280160"/>
            <a:ext cx="50292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>
                <a:solidFill>
                  <a:srgbClr val="000000"/>
                </a:solidFill>
                <a:latin typeface="Times New Roman"/>
              </a:defRPr>
            </a:pPr>
            <a:r>
              <a:t>AES-256-GCM:</a:t>
            </a:r>
          </a:p>
          <a:p>
            <a:pPr>
              <a:spcAft>
                <a:spcPts val="800"/>
              </a:spcAft>
              <a:defRPr sz="1400">
                <a:solidFill>
                  <a:srgbClr val="000000"/>
                </a:solidFill>
                <a:latin typeface="Times New Roman"/>
              </a:defRPr>
            </a:pPr>
            <a:r>
              <a:t>- 14 rounds of SubBytes, ShiftRows, MixColumns, AddRoundKey.</a:t>
            </a:r>
          </a:p>
          <a:p>
            <a:pPr>
              <a:spcAft>
                <a:spcPts val="800"/>
              </a:spcAft>
              <a:defRPr sz="1400">
                <a:solidFill>
                  <a:srgbClr val="000000"/>
                </a:solidFill>
                <a:latin typeface="Times New Roman"/>
              </a:defRPr>
            </a:pPr>
            <a:r>
              <a:t>- GCM mode provides authenticated encryption.</a:t>
            </a:r>
          </a:p>
          <a:p>
            <a:pPr>
              <a:spcAft>
                <a:spcPts val="800"/>
              </a:spcAft>
              <a:defRPr sz="1400">
                <a:solidFill>
                  <a:srgbClr val="000000"/>
                </a:solidFill>
                <a:latin typeface="Times New Roman"/>
              </a:defRPr>
            </a:pPr>
            <a:r>
              <a:t>- Implemented via PyCryptodome (uses hardware AES-NI if available).</a:t>
            </a:r>
          </a:p>
          <a:p>
            <a:pPr>
              <a:spcAft>
                <a:spcPts val="800"/>
              </a:spcAft>
              <a:defRPr sz="1400">
                <a:solidFill>
                  <a:srgbClr val="000000"/>
                </a:solidFill>
                <a:latin typeface="Times New Roman"/>
              </a:defRPr>
            </a:pPr>
          </a:p>
          <a:p>
            <a:pPr>
              <a:spcAft>
                <a:spcPts val="800"/>
              </a:spcAft>
              <a:defRPr sz="1400">
                <a:solidFill>
                  <a:srgbClr val="000000"/>
                </a:solidFill>
                <a:latin typeface="Times New Roman"/>
              </a:defRPr>
            </a:pPr>
            <a:r>
              <a:t>ChaCha20-Poly1305:</a:t>
            </a:r>
          </a:p>
          <a:p>
            <a:pPr>
              <a:spcAft>
                <a:spcPts val="800"/>
              </a:spcAft>
              <a:defRPr sz="1400">
                <a:solidFill>
                  <a:srgbClr val="000000"/>
                </a:solidFill>
                <a:latin typeface="Times New Roman"/>
              </a:defRPr>
            </a:pPr>
            <a:r>
              <a:t>- 20 rounds of quarter-round ARX operations generate a keystream.</a:t>
            </a:r>
          </a:p>
          <a:p>
            <a:pPr>
              <a:spcAft>
                <a:spcPts val="800"/>
              </a:spcAft>
              <a:defRPr sz="1400">
                <a:solidFill>
                  <a:srgbClr val="000000"/>
                </a:solidFill>
                <a:latin typeface="Times New Roman"/>
              </a:defRPr>
            </a:pPr>
            <a:r>
              <a:t>- Plaintext XORed with keystream for encryption.</a:t>
            </a:r>
          </a:p>
          <a:p>
            <a:pPr>
              <a:spcAft>
                <a:spcPts val="800"/>
              </a:spcAft>
              <a:defRPr sz="1400">
                <a:solidFill>
                  <a:srgbClr val="000000"/>
                </a:solidFill>
                <a:latin typeface="Times New Roman"/>
              </a:defRPr>
            </a:pPr>
            <a:r>
              <a:t>- Poly1305 MAC provides authentication.</a:t>
            </a:r>
          </a:p>
          <a:p>
            <a:pPr>
              <a:spcAft>
                <a:spcPts val="800"/>
              </a:spcAft>
              <a:defRPr sz="1400">
                <a:solidFill>
                  <a:srgbClr val="000000"/>
                </a:solidFill>
                <a:latin typeface="Times New Roman"/>
              </a:defRPr>
            </a:pPr>
            <a:r>
              <a:t>- Implemented via PyCryptodome (optimized C backend).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0" y="1280160"/>
            <a:ext cx="50292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>
                <a:solidFill>
                  <a:srgbClr val="000000"/>
                </a:solidFill>
                <a:latin typeface="Times New Roman"/>
              </a:defRPr>
            </a:pPr>
            <a:r>
              <a:t>PRESENT-80 (Built from scratch):</a:t>
            </a:r>
          </a:p>
          <a:p>
            <a:pPr>
              <a:spcAft>
                <a:spcPts val="800"/>
              </a:spcAft>
              <a:defRPr sz="1400">
                <a:solidFill>
                  <a:srgbClr val="000000"/>
                </a:solidFill>
                <a:latin typeface="Times New Roman"/>
              </a:defRPr>
            </a:pPr>
            <a:r>
              <a:t>- 31 rounds on 64-bit blocks using 4-bit S-Box substitution + bit permutation (P-Box).</a:t>
            </a:r>
          </a:p>
          <a:p>
            <a:pPr>
              <a:spcAft>
                <a:spcPts val="800"/>
              </a:spcAft>
              <a:defRPr sz="1400">
                <a:solidFill>
                  <a:srgbClr val="000000"/>
                </a:solidFill>
                <a:latin typeface="Times New Roman"/>
              </a:defRPr>
            </a:pPr>
            <a:r>
              <a:t>- Wrapped in CTR mode for arbitrary-length payloads.</a:t>
            </a:r>
          </a:p>
          <a:p>
            <a:pPr>
              <a:spcAft>
                <a:spcPts val="800"/>
              </a:spcAft>
              <a:defRPr sz="1400">
                <a:solidFill>
                  <a:srgbClr val="000000"/>
                </a:solidFill>
                <a:latin typeface="Times New Roman"/>
              </a:defRPr>
            </a:pPr>
            <a:r>
              <a:t>- HMAC-SHA256 added for integrity (since PRESENT has no built-in authentication).</a:t>
            </a:r>
          </a:p>
          <a:p>
            <a:pPr>
              <a:spcAft>
                <a:spcPts val="800"/>
              </a:spcAft>
              <a:defRPr sz="1400">
                <a:solidFill>
                  <a:srgbClr val="000000"/>
                </a:solidFill>
                <a:latin typeface="Times New Roman"/>
              </a:defRPr>
            </a:pPr>
          </a:p>
          <a:p>
            <a:pPr>
              <a:spcAft>
                <a:spcPts val="800"/>
              </a:spcAft>
              <a:defRPr sz="1400">
                <a:solidFill>
                  <a:srgbClr val="000000"/>
                </a:solidFill>
                <a:latin typeface="Times New Roman"/>
              </a:defRPr>
            </a:pPr>
            <a:r>
              <a:t>SPECK-64/128 (Built from scratch):</a:t>
            </a:r>
          </a:p>
          <a:p>
            <a:pPr>
              <a:spcAft>
                <a:spcPts val="800"/>
              </a:spcAft>
              <a:defRPr sz="1400">
                <a:solidFill>
                  <a:srgbClr val="000000"/>
                </a:solidFill>
                <a:latin typeface="Times New Roman"/>
              </a:defRPr>
            </a:pPr>
            <a:r>
              <a:t>- 27 rounds using only bitwise rotation, modular addition, and XOR.</a:t>
            </a:r>
          </a:p>
          <a:p>
            <a:pPr>
              <a:spcAft>
                <a:spcPts val="800"/>
              </a:spcAft>
              <a:defRPr sz="1400">
                <a:solidFill>
                  <a:srgbClr val="000000"/>
                </a:solidFill>
                <a:latin typeface="Times New Roman"/>
              </a:defRPr>
            </a:pPr>
            <a:r>
              <a:t>- No S-Boxes: maximizes software efficiency on microcontrollers.</a:t>
            </a:r>
          </a:p>
          <a:p>
            <a:pPr>
              <a:spcAft>
                <a:spcPts val="800"/>
              </a:spcAft>
              <a:defRPr sz="1400">
                <a:solidFill>
                  <a:srgbClr val="000000"/>
                </a:solidFill>
                <a:latin typeface="Times New Roman"/>
              </a:defRPr>
            </a:pPr>
            <a:r>
              <a:t>- Wrapped in CTR mode + HMAC-SHA256 for AEAD-like behavior.</a:t>
            </a:r>
          </a:p>
          <a:p>
            <a:pPr>
              <a:spcAft>
                <a:spcPts val="800"/>
              </a:spcAft>
              <a:defRPr sz="1400">
                <a:solidFill>
                  <a:srgbClr val="000000"/>
                </a:solidFill>
                <a:latin typeface="Times New Roman"/>
              </a:defRPr>
            </a:pPr>
            <a:r>
              <a:t>- Key expansion generates 27 round keys from the 128-bit master key.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E1E1E"/>
                </a:solidFill>
                <a:latin typeface="Times New Roman"/>
              </a:defRPr>
            </a:pPr>
            <a:r>
              <a:t>Results: Throughput &amp; CPU Usage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05840"/>
            <a:ext cx="10698480" cy="254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throughpu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371600"/>
            <a:ext cx="5486400" cy="3200400"/>
          </a:xfrm>
          <a:prstGeom prst="rect">
            <a:avLst/>
          </a:prstGeom>
        </p:spPr>
      </p:pic>
      <p:pic>
        <p:nvPicPr>
          <p:cNvPr id="5" name="Picture 4" descr="cpu_us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0" y="1371600"/>
            <a:ext cx="5486400" cy="32004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31520" y="484632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E1E1E"/>
                </a:solidFill>
                <a:latin typeface="Times New Roman"/>
              </a:defRPr>
            </a:pPr>
            <a:r>
              <a:t>- AES &amp; ChaCha20 achieve ~65-67 MB/s at 100KB. PRESENT and SPECK are orders of magnitude slower in pure Python.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530352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E1E1E"/>
                </a:solidFill>
                <a:latin typeface="Times New Roman"/>
              </a:defRPr>
            </a:pPr>
            <a:r>
              <a:t>- Lightweight ciphers saturate a single CPU core (~95-100%) due to intensive bit manipulation in Python.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E1E1E"/>
                </a:solidFill>
                <a:latin typeface="Times New Roman"/>
              </a:defRPr>
            </a:pPr>
            <a:r>
              <a:t>Results: Encryption &amp; Decryption Time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05840"/>
            <a:ext cx="10698480" cy="254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encryption_tim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371600"/>
            <a:ext cx="5486400" cy="3200400"/>
          </a:xfrm>
          <a:prstGeom prst="rect">
            <a:avLst/>
          </a:prstGeom>
        </p:spPr>
      </p:pic>
      <p:pic>
        <p:nvPicPr>
          <p:cNvPr id="5" name="Picture 4" descr="decryption_tim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0" y="1371600"/>
            <a:ext cx="5486400" cy="32004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31520" y="484632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E1E1E"/>
                </a:solidFill>
                <a:latin typeface="Times New Roman"/>
              </a:defRPr>
            </a:pPr>
            <a:r>
              <a:t>- PRESENT: ~37s for 100KB encryption. SPECK: ~3s for 100KB. AES/ChaCha20: &lt;2ms for 100KB.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530352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E1E1E"/>
                </a:solidFill>
                <a:latin typeface="Times New Roman"/>
              </a:defRPr>
            </a:pPr>
            <a:r>
              <a:t>- Time scales linearly with data size for all algorithms, confirming O(n) complexity.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E1E1E"/>
                </a:solidFill>
                <a:latin typeface="Times New Roman"/>
              </a:defRPr>
            </a:pPr>
            <a:r>
              <a:t>Results: Memory &amp; Summary Dashboard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05840"/>
            <a:ext cx="10698480" cy="254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memory_us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371600"/>
            <a:ext cx="5486400" cy="3200400"/>
          </a:xfrm>
          <a:prstGeom prst="rect">
            <a:avLst/>
          </a:prstGeom>
        </p:spPr>
      </p:pic>
      <p:pic>
        <p:nvPicPr>
          <p:cNvPr id="5" name="Picture 4" descr="summary_dashboar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0" y="1371600"/>
            <a:ext cx="5486400" cy="32004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31520" y="484632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E1E1E"/>
                </a:solidFill>
                <a:latin typeface="Times New Roman"/>
              </a:defRPr>
            </a:pPr>
            <a:r>
              <a:t>- At 100KB: AES ~102KB, ChaCha20 ~100KB, PRESENT ~210KB, SPECK ~210KB peak memory.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E1E1E"/>
                </a:solidFill>
                <a:latin typeface="Times New Roman"/>
              </a:defRPr>
            </a:pPr>
            <a:r>
              <a:t>Results: Summary Table &amp; Best Algorithm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05840"/>
            <a:ext cx="10698480" cy="254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18872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E1E1E"/>
                </a:solidFill>
                <a:latin typeface="Times New Roman"/>
              </a:defRPr>
            </a:pPr>
            <a:r>
              <a:t>Encryption Performance (averaged across 1KB, 10KB, 100KB -- 5 iterations each):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31520" y="1645920"/>
          <a:ext cx="10698480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83080"/>
                <a:gridCol w="1783080"/>
                <a:gridCol w="1783080"/>
                <a:gridCol w="1783080"/>
                <a:gridCol w="1783080"/>
                <a:gridCol w="1783080"/>
              </a:tblGrid>
              <a:tr h="457200"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Times New Roman"/>
                        </a:defRPr>
                      </a:pPr>
                      <a:r>
                        <a:t>Algorithm</a:t>
                      </a:r>
                    </a:p>
                  </a:txBody>
                  <a:tcPr>
                    <a:solidFill>
                      <a:srgbClr val="1E1E1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Times New Roman"/>
                        </a:defRPr>
                      </a:pPr>
                      <a:r>
                        <a:t>Avg Time (ms)</a:t>
                      </a:r>
                    </a:p>
                  </a:txBody>
                  <a:tcPr>
                    <a:solidFill>
                      <a:srgbClr val="1E1E1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Times New Roman"/>
                        </a:defRPr>
                      </a:pPr>
                      <a:r>
                        <a:t>Avg CPU %</a:t>
                      </a:r>
                    </a:p>
                  </a:txBody>
                  <a:tcPr>
                    <a:solidFill>
                      <a:srgbClr val="1E1E1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Times New Roman"/>
                        </a:defRPr>
                      </a:pPr>
                      <a:r>
                        <a:t>Avg Memory (KB)</a:t>
                      </a:r>
                    </a:p>
                  </a:txBody>
                  <a:tcPr>
                    <a:solidFill>
                      <a:srgbClr val="1E1E1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Times New Roman"/>
                        </a:defRPr>
                      </a:pPr>
                      <a:r>
                        <a:t>Avg Throughput (MB/s)</a:t>
                      </a:r>
                    </a:p>
                  </a:txBody>
                  <a:tcPr>
                    <a:solidFill>
                      <a:srgbClr val="1E1E1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Times New Roman"/>
                        </a:defRPr>
                      </a:pPr>
                      <a:r>
                        <a:t>Composite Score</a:t>
                      </a:r>
                    </a:p>
                  </a:txBody>
                  <a:tcPr>
                    <a:solidFill>
                      <a:srgbClr val="1E1E1E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>
                        <a:defRPr sz="1300">
                          <a:latin typeface="Times New Roman"/>
                        </a:defRPr>
                      </a:pPr>
                      <a:r>
                        <a:t>AES-256-GCM</a:t>
                      </a:r>
                    </a:p>
                  </a:txBody>
                  <a:tcPr>
                    <a:solidFill>
                      <a:srgbClr val="F0F0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latin typeface="Times New Roman"/>
                        </a:defRPr>
                      </a:pPr>
                      <a:r>
                        <a:t>3.811</a:t>
                      </a:r>
                    </a:p>
                  </a:txBody>
                  <a:tcPr>
                    <a:solidFill>
                      <a:srgbClr val="F0F0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latin typeface="Times New Roman"/>
                        </a:defRPr>
                      </a:pPr>
                      <a:r>
                        <a:t>65.5</a:t>
                      </a:r>
                    </a:p>
                  </a:txBody>
                  <a:tcPr>
                    <a:solidFill>
                      <a:srgbClr val="F0F0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latin typeface="Times New Roman"/>
                        </a:defRPr>
                      </a:pPr>
                      <a:r>
                        <a:t>51.6</a:t>
                      </a:r>
                    </a:p>
                  </a:txBody>
                  <a:tcPr>
                    <a:solidFill>
                      <a:srgbClr val="F0F0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latin typeface="Times New Roman"/>
                        </a:defRPr>
                      </a:pPr>
                      <a:r>
                        <a:t>27.14</a:t>
                      </a:r>
                    </a:p>
                  </a:txBody>
                  <a:tcPr>
                    <a:solidFill>
                      <a:srgbClr val="F0F0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latin typeface="Times New Roman"/>
                        </a:defRPr>
                      </a:pPr>
                      <a:r>
                        <a:t>7.0</a:t>
                      </a:r>
                    </a:p>
                  </a:txBody>
                  <a:tcPr>
                    <a:solidFill>
                      <a:srgbClr val="F0F0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>
                        <a:defRPr sz="1300">
                          <a:latin typeface="Times New Roman"/>
                        </a:defRPr>
                      </a:pPr>
                      <a:r>
                        <a:t>ChaCha20-Poly1305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latin typeface="Times New Roman"/>
                        </a:defRPr>
                      </a:pPr>
                      <a:r>
                        <a:t>0.993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latin typeface="Times New Roman"/>
                        </a:defRPr>
                      </a:pPr>
                      <a:r>
                        <a:t>120.0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latin typeface="Times New Roman"/>
                        </a:defRPr>
                      </a:pPr>
                      <a:r>
                        <a:t>39.0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latin typeface="Times New Roman"/>
                        </a:defRPr>
                      </a:pPr>
                      <a:r>
                        <a:t>29.85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latin typeface="Times New Roman"/>
                        </a:defRPr>
                      </a:pPr>
                      <a:r>
                        <a:t>7.0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pPr algn="ctr">
                        <a:defRPr sz="1300">
                          <a:latin typeface="Times New Roman"/>
                        </a:defRPr>
                      </a:pPr>
                      <a:r>
                        <a:t>PRESENT-80</a:t>
                      </a:r>
                    </a:p>
                  </a:txBody>
                  <a:tcPr>
                    <a:solidFill>
                      <a:srgbClr val="F0F0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latin typeface="Times New Roman"/>
                        </a:defRPr>
                      </a:pPr>
                      <a:r>
                        <a:t>13,783.90</a:t>
                      </a:r>
                    </a:p>
                  </a:txBody>
                  <a:tcPr>
                    <a:solidFill>
                      <a:srgbClr val="F0F0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latin typeface="Times New Roman"/>
                        </a:defRPr>
                      </a:pPr>
                      <a:r>
                        <a:t>96.2</a:t>
                      </a:r>
                    </a:p>
                  </a:txBody>
                  <a:tcPr>
                    <a:solidFill>
                      <a:srgbClr val="F0F0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latin typeface="Times New Roman"/>
                        </a:defRPr>
                      </a:pPr>
                      <a:r>
                        <a:t>79.1</a:t>
                      </a:r>
                    </a:p>
                  </a:txBody>
                  <a:tcPr>
                    <a:solidFill>
                      <a:srgbClr val="F0F0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latin typeface="Times New Roman"/>
                        </a:defRPr>
                      </a:pPr>
                      <a:r>
                        <a:t>0.003</a:t>
                      </a:r>
                    </a:p>
                  </a:txBody>
                  <a:tcPr>
                    <a:solidFill>
                      <a:srgbClr val="F0F0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latin typeface="Times New Roman"/>
                        </a:defRPr>
                      </a:pPr>
                      <a:r>
                        <a:t>15.0</a:t>
                      </a:r>
                    </a:p>
                  </a:txBody>
                  <a:tcPr>
                    <a:solidFill>
                      <a:srgbClr val="F0F0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>
                        <a:defRPr sz="1300">
                          <a:latin typeface="Times New Roman"/>
                        </a:defRPr>
                      </a:pPr>
                      <a:r>
                        <a:t>SPECK-64/128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latin typeface="Times New Roman"/>
                        </a:defRPr>
                      </a:pPr>
                      <a:r>
                        <a:t>1,181.88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latin typeface="Times New Roman"/>
                        </a:defRPr>
                      </a:pPr>
                      <a:r>
                        <a:t>85.7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latin typeface="Times New Roman"/>
                        </a:defRPr>
                      </a:pPr>
                      <a:r>
                        <a:t>79.0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latin typeface="Times New Roman"/>
                        </a:defRPr>
                      </a:pPr>
                      <a:r>
                        <a:t>0.04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latin typeface="Times New Roman"/>
                        </a:defRPr>
                      </a:pPr>
                      <a:r>
                        <a:t>11.0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731520" y="420624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646464"/>
                </a:solidFill>
                <a:latin typeface="Times New Roman"/>
              </a:defRPr>
            </a:pPr>
            <a:r>
              <a:t>Scoring: Each algorithm ranked 1-4 on throughput, latency, CPU, memory. Sum of ranks = composite score. Lower = better.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4663440"/>
            <a:ext cx="10698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2563EB"/>
                </a:solidFill>
                <a:latin typeface="Times New Roman"/>
              </a:defRPr>
            </a:pPr>
            <a:r>
              <a:t>BEST OVERALL (tied): AES-256-GCM &amp; ChaCha20-Poly1305 (Score: 7.0)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521208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1E1E1E"/>
                </a:solidFill>
                <a:latin typeface="Times New Roman"/>
              </a:defRPr>
            </a:pPr>
            <a:r>
              <a:t>- AES wins on CPU (hardware AES-NI). ChaCha20 wins on throughput &amp; memory. On devices without AES-NI, ChaCha20 is the clear winner.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E1E1E"/>
                </a:solidFill>
                <a:latin typeface="Times New Roman"/>
              </a:defRPr>
            </a:pPr>
            <a:r>
              <a:t>Results: Scalability &amp; Distributed Performance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05840"/>
            <a:ext cx="10698480" cy="254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scalability_dashbo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0" y="1371600"/>
            <a:ext cx="7616952" cy="41148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31520" y="5669280"/>
            <a:ext cx="10698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2563EB"/>
                </a:solidFill>
                <a:latin typeface="Times New Roman"/>
              </a:defRPr>
            </a:pPr>
            <a:r>
              <a:t>System scalability remains nearly linear as the number of nodes increases (N = 5 to 1000).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E1E1E"/>
                </a:solidFill>
                <a:latin typeface="Times New Roman"/>
              </a:defRPr>
            </a:pPr>
            <a:r>
              <a:t>Conclusion: Where Each Algorithm Excels &amp; Fails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05840"/>
            <a:ext cx="10698480" cy="254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188720"/>
          <a:ext cx="11247120" cy="5029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11780"/>
                <a:gridCol w="2811780"/>
                <a:gridCol w="2811780"/>
                <a:gridCol w="2811780"/>
              </a:tblGrid>
              <a:tr h="1005840"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Times New Roman"/>
                        </a:defRPr>
                      </a:pPr>
                      <a:r>
                        <a:t>Algorithm</a:t>
                      </a:r>
                    </a:p>
                  </a:txBody>
                  <a:tcPr>
                    <a:solidFill>
                      <a:srgbClr val="1E1E1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Times New Roman"/>
                        </a:defRPr>
                      </a:pPr>
                      <a:r>
                        <a:t>Best For</a:t>
                      </a:r>
                    </a:p>
                  </a:txBody>
                  <a:tcPr>
                    <a:solidFill>
                      <a:srgbClr val="1E1E1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Times New Roman"/>
                        </a:defRPr>
                      </a:pPr>
                      <a:r>
                        <a:t>Fails When</a:t>
                      </a:r>
                    </a:p>
                  </a:txBody>
                  <a:tcPr>
                    <a:solidFill>
                      <a:srgbClr val="1E1E1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Times New Roman"/>
                        </a:defRPr>
                      </a:pPr>
                      <a:r>
                        <a:t>Why</a:t>
                      </a:r>
                    </a:p>
                  </a:txBody>
                  <a:tcPr>
                    <a:solidFill>
                      <a:srgbClr val="1E1E1E"/>
                    </a:solidFill>
                  </a:tcPr>
                </a:tc>
              </a:tr>
              <a:tr h="1005840">
                <a:tc>
                  <a:txBody>
                    <a:bodyPr/>
                    <a:lstStyle/>
                    <a:p>
                      <a:pPr algn="ctr">
                        <a:defRPr sz="1200">
                          <a:latin typeface="Times New Roman"/>
                        </a:defRPr>
                      </a:pPr>
                      <a:r>
                        <a:t>AES-256-GCM</a:t>
                      </a:r>
                    </a:p>
                  </a:txBody>
                  <a:tcPr>
                    <a:solidFill>
                      <a:srgbClr val="F0F0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Times New Roman"/>
                        </a:defRPr>
                      </a:pPr>
                      <a:r>
                        <a:t>High-performance edge nodes</a:t>
                      </a:r>
                    </a:p>
                    <a:p>
                      <a:pPr algn="ctr">
                        <a:defRPr sz="1200">
                          <a:latin typeface="Times New Roman"/>
                        </a:defRPr>
                      </a:pPr>
                      <a:r>
                        <a:t>(Raspberry Pi, x86 with AES-NI)</a:t>
                      </a:r>
                    </a:p>
                  </a:txBody>
                  <a:tcPr>
                    <a:solidFill>
                      <a:srgbClr val="F0F0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Times New Roman"/>
                        </a:defRPr>
                      </a:pPr>
                      <a:r>
                        <a:t>Ultra-constrained devices</a:t>
                      </a:r>
                    </a:p>
                    <a:p>
                      <a:pPr algn="ctr">
                        <a:defRPr sz="1200">
                          <a:latin typeface="Times New Roman"/>
                        </a:defRPr>
                      </a:pPr>
                      <a:r>
                        <a:t>(passive RFID, 8-bit MCUs)</a:t>
                      </a:r>
                    </a:p>
                  </a:txBody>
                  <a:tcPr>
                    <a:solidFill>
                      <a:srgbClr val="F0F0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Times New Roman"/>
                        </a:defRPr>
                      </a:pPr>
                      <a:r>
                        <a:t>Requires ~50,000 GE and dedicated</a:t>
                      </a:r>
                    </a:p>
                    <a:p>
                      <a:pPr algn="ctr">
                        <a:defRPr sz="1200">
                          <a:latin typeface="Times New Roman"/>
                        </a:defRPr>
                      </a:pPr>
                      <a:r>
                        <a:t>hardware instructions (AES-NI) for speed</a:t>
                      </a:r>
                    </a:p>
                  </a:txBody>
                  <a:tcPr>
                    <a:solidFill>
                      <a:srgbClr val="F0F0FF"/>
                    </a:solidFill>
                  </a:tcPr>
                </a:tc>
              </a:tr>
              <a:tr h="1005840">
                <a:tc>
                  <a:txBody>
                    <a:bodyPr/>
                    <a:lstStyle/>
                    <a:p>
                      <a:pPr algn="ctr">
                        <a:defRPr sz="1200">
                          <a:latin typeface="Times New Roman"/>
                        </a:defRPr>
                      </a:pPr>
                      <a:r>
                        <a:t>ChaCha20-Poly1305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Times New Roman"/>
                        </a:defRPr>
                      </a:pPr>
                      <a:r>
                        <a:t>Software-only ARM/RISC-V MCUs</a:t>
                      </a:r>
                    </a:p>
                    <a:p>
                      <a:pPr algn="ctr">
                        <a:defRPr sz="1200">
                          <a:latin typeface="Times New Roman"/>
                        </a:defRPr>
                      </a:pPr>
                      <a:r>
                        <a:t>(no crypto hardware needed)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Times New Roman"/>
                        </a:defRPr>
                      </a:pPr>
                      <a:r>
                        <a:t>Extreme gate-count limits</a:t>
                      </a:r>
                    </a:p>
                    <a:p>
                      <a:pPr algn="ctr">
                        <a:defRPr sz="1200">
                          <a:latin typeface="Times New Roman"/>
                        </a:defRPr>
                      </a:pPr>
                      <a:r>
                        <a:t>(needs ~38,000 GE)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Times New Roman"/>
                        </a:defRPr>
                      </a:pPr>
                      <a:r>
                        <a:t>Pure ARX ops are fast in software but</a:t>
                      </a:r>
                    </a:p>
                    <a:p>
                      <a:pPr algn="ctr">
                        <a:defRPr sz="1200">
                          <a:latin typeface="Times New Roman"/>
                        </a:defRPr>
                      </a:pPr>
                      <a:r>
                        <a:t>still require moderate silicon area</a:t>
                      </a:r>
                    </a:p>
                  </a:txBody>
                  <a:tcPr/>
                </a:tc>
              </a:tr>
              <a:tr h="1005840">
                <a:tc>
                  <a:txBody>
                    <a:bodyPr/>
                    <a:lstStyle/>
                    <a:p>
                      <a:pPr algn="ctr">
                        <a:defRPr sz="1200">
                          <a:latin typeface="Times New Roman"/>
                        </a:defRPr>
                      </a:pPr>
                      <a:r>
                        <a:t>PRESENT-80</a:t>
                      </a:r>
                    </a:p>
                  </a:txBody>
                  <a:tcPr>
                    <a:solidFill>
                      <a:srgbClr val="F0F0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Times New Roman"/>
                        </a:defRPr>
                      </a:pPr>
                      <a:r>
                        <a:t>Passive RFID, smart cards</a:t>
                      </a:r>
                    </a:p>
                    <a:p>
                      <a:pPr algn="ctr">
                        <a:defRPr sz="1200">
                          <a:latin typeface="Times New Roman"/>
                        </a:defRPr>
                      </a:pPr>
                      <a:r>
                        <a:t>(needs only ~1,570 GE)</a:t>
                      </a:r>
                    </a:p>
                  </a:txBody>
                  <a:tcPr>
                    <a:solidFill>
                      <a:srgbClr val="F0F0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Times New Roman"/>
                        </a:defRPr>
                      </a:pPr>
                      <a:r>
                        <a:t>Any payload &gt;1KB in software</a:t>
                      </a:r>
                    </a:p>
                    <a:p>
                      <a:pPr algn="ctr">
                        <a:defRPr sz="1200">
                          <a:latin typeface="Times New Roman"/>
                        </a:defRPr>
                      </a:pPr>
                      <a:r>
                        <a:t>(~375ms per 1KB, ~37s per 100KB)</a:t>
                      </a:r>
                    </a:p>
                  </a:txBody>
                  <a:tcPr>
                    <a:solidFill>
                      <a:srgbClr val="F0F0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Times New Roman"/>
                        </a:defRPr>
                      </a:pPr>
                      <a:r>
                        <a:t>Designed for hardware ASIC, not software.</a:t>
                      </a:r>
                    </a:p>
                    <a:p>
                      <a:pPr algn="ctr">
                        <a:defRPr sz="1200">
                          <a:latin typeface="Times New Roman"/>
                        </a:defRPr>
                      </a:pPr>
                      <a:r>
                        <a:t>31 rounds of 4-bit S-Box are slow in Python.</a:t>
                      </a:r>
                    </a:p>
                  </a:txBody>
                  <a:tcPr>
                    <a:solidFill>
                      <a:srgbClr val="F0F0FF"/>
                    </a:solidFill>
                  </a:tcPr>
                </a:tc>
              </a:tr>
              <a:tr h="1005840">
                <a:tc>
                  <a:txBody>
                    <a:bodyPr/>
                    <a:lstStyle/>
                    <a:p>
                      <a:pPr algn="ctr">
                        <a:defRPr sz="1200">
                          <a:latin typeface="Times New Roman"/>
                        </a:defRPr>
                      </a:pPr>
                      <a:r>
                        <a:t>SPECK-64/128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Times New Roman"/>
                        </a:defRPr>
                      </a:pPr>
                      <a:r>
                        <a:t>Constrained MCUs needing speed</a:t>
                      </a:r>
                    </a:p>
                    <a:p>
                      <a:pPr algn="ctr">
                        <a:defRPr sz="1200">
                          <a:latin typeface="Times New Roman"/>
                        </a:defRPr>
                      </a:pPr>
                      <a:r>
                        <a:t>(24 cycles/byte on ARM Cortex)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Times New Roman"/>
                        </a:defRPr>
                      </a:pPr>
                      <a:r>
                        <a:t>Large payloads in pure Python</a:t>
                      </a:r>
                    </a:p>
                    <a:p>
                      <a:pPr algn="ctr">
                        <a:defRPr sz="1200">
                          <a:latin typeface="Times New Roman"/>
                        </a:defRPr>
                      </a:pPr>
                      <a:r>
                        <a:t>(~1.7s per 100KB)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Times New Roman"/>
                        </a:defRPr>
                      </a:pPr>
                      <a:r>
                        <a:t>Optimized for C/ASM on MCUs. Python's</a:t>
                      </a:r>
                    </a:p>
                    <a:p>
                      <a:pPr algn="ctr">
                        <a:defRPr sz="1200">
                          <a:latin typeface="Times New Roman"/>
                        </a:defRPr>
                      </a:pPr>
                      <a:r>
                        <a:t>interpreter overhead negates ARX advantages.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E1E1E"/>
                </a:solidFill>
                <a:latin typeface="Times New Roman"/>
              </a:defRPr>
            </a:pPr>
            <a:r>
              <a:t>References (1/2)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05840"/>
            <a:ext cx="10698480" cy="254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280160"/>
            <a:ext cx="1069848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>
                <a:solidFill>
                  <a:srgbClr val="000000"/>
                </a:solidFill>
                <a:latin typeface="Times New Roman"/>
              </a:defRPr>
            </a:pPr>
            <a:r>
              <a:t>[1] Daemen, J. &amp; Rijmen, V. (2002). "The Design of Rijndael: AES." Springer.</a:t>
            </a:r>
          </a:p>
          <a:p>
            <a:pPr>
              <a:spcAft>
                <a:spcPts val="800"/>
              </a:spcAft>
              <a:defRPr sz="1400">
                <a:solidFill>
                  <a:srgbClr val="000000"/>
                </a:solidFill>
                <a:latin typeface="Times New Roman"/>
              </a:defRPr>
            </a:pPr>
            <a:r>
              <a:t>[2] Bernstein, D.J. (2008). "ChaCha, a variant of Salsa20." SASC 2008.</a:t>
            </a:r>
          </a:p>
          <a:p>
            <a:pPr>
              <a:spcAft>
                <a:spcPts val="800"/>
              </a:spcAft>
              <a:defRPr sz="1400">
                <a:solidFill>
                  <a:srgbClr val="000000"/>
                </a:solidFill>
                <a:latin typeface="Times New Roman"/>
              </a:defRPr>
            </a:pPr>
            <a:r>
              <a:t>[3] Bogdanov, A. et al. (2007). "PRESENT: An Ultra-Lightweight Block Cipher." CHES 2007, LNCS 4727.</a:t>
            </a:r>
          </a:p>
          <a:p>
            <a:pPr>
              <a:spcAft>
                <a:spcPts val="800"/>
              </a:spcAft>
              <a:defRPr sz="1400">
                <a:solidFill>
                  <a:srgbClr val="000000"/>
                </a:solidFill>
                <a:latin typeface="Times New Roman"/>
              </a:defRPr>
            </a:pPr>
            <a:r>
              <a:t>[4] Beaulieu, R. et al. (2013). "The SIMON and SPECK Families of Lightweight Block Ciphers." IACR ePrint 2013/404.</a:t>
            </a:r>
          </a:p>
          <a:p>
            <a:pPr>
              <a:spcAft>
                <a:spcPts val="800"/>
              </a:spcAft>
              <a:defRPr sz="1400">
                <a:solidFill>
                  <a:srgbClr val="000000"/>
                </a:solidFill>
                <a:latin typeface="Times New Roman"/>
              </a:defRPr>
            </a:pPr>
            <a:r>
              <a:t>[5] Thakor, V. et al. (2021). "Lightweight Cryptography Algorithms for Resource-Constrained IoT Devices." IEEE Access, Vol. 9.</a:t>
            </a:r>
          </a:p>
          <a:p>
            <a:pPr>
              <a:spcAft>
                <a:spcPts val="800"/>
              </a:spcAft>
              <a:defRPr sz="1400">
                <a:solidFill>
                  <a:srgbClr val="000000"/>
                </a:solidFill>
                <a:latin typeface="Times New Roman"/>
              </a:defRPr>
            </a:pPr>
            <a:r>
              <a:t>[6] Akyildiz, I.F. et al. (2002). "Wireless Sensor Networks: A Survey." Computer Networks, Vol. 38(4).</a:t>
            </a:r>
          </a:p>
          <a:p>
            <a:pPr>
              <a:spcAft>
                <a:spcPts val="800"/>
              </a:spcAft>
              <a:defRPr sz="1400">
                <a:solidFill>
                  <a:srgbClr val="000000"/>
                </a:solidFill>
                <a:latin typeface="Times New Roman"/>
              </a:defRPr>
            </a:pPr>
            <a:r>
              <a:t>[7] Shi, W. et al. (2016). "Edge Computing: Vision and Challenges." IEEE Internet of Things Journal, 3(5).</a:t>
            </a:r>
          </a:p>
          <a:p>
            <a:pPr>
              <a:spcAft>
                <a:spcPts val="800"/>
              </a:spcAft>
              <a:defRPr sz="1400">
                <a:solidFill>
                  <a:srgbClr val="000000"/>
                </a:solidFill>
                <a:latin typeface="Times New Roman"/>
              </a:defRPr>
            </a:pPr>
            <a:r>
              <a:t>[8] Li, S. et al. (2015). "The Internet of Things: A Survey." Information Systems Frontiers, 17(2).</a:t>
            </a:r>
          </a:p>
          <a:p>
            <a:pPr>
              <a:spcAft>
                <a:spcPts val="800"/>
              </a:spcAft>
              <a:defRPr sz="1400">
                <a:solidFill>
                  <a:srgbClr val="000000"/>
                </a:solidFill>
                <a:latin typeface="Times New Roman"/>
              </a:defRPr>
            </a:pPr>
            <a:r>
              <a:t>[9] McKay, K. et al. (2017). "Report on Lightweight Cryptography." NIST Internal Report 8114.</a:t>
            </a:r>
          </a:p>
          <a:p>
            <a:pPr>
              <a:spcAft>
                <a:spcPts val="800"/>
              </a:spcAft>
              <a:defRPr sz="1400">
                <a:solidFill>
                  <a:srgbClr val="000000"/>
                </a:solidFill>
                <a:latin typeface="Times New Roman"/>
              </a:defRPr>
            </a:pPr>
            <a:r>
              <a:t>[10] Hatzivasilis, G. et al. (2018). "Review of Lightweight Block Ciphers." Journal of Cryptographic Engineering, 8(2).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E1E1E"/>
                </a:solidFill>
                <a:latin typeface="Times New Roman"/>
              </a:defRPr>
            </a:pPr>
            <a:r>
              <a:t>References (2/2)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05840"/>
            <a:ext cx="10698480" cy="254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280160"/>
            <a:ext cx="1069848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000000"/>
                </a:solidFill>
                <a:latin typeface="Times New Roman"/>
              </a:defRPr>
            </a:pPr>
            <a:r>
              <a:t>Wikipedia / Online References:</a:t>
            </a:r>
          </a:p>
          <a:p>
            <a:pPr>
              <a:spcAft>
                <a:spcPts val="800"/>
              </a:spcAft>
              <a:defRPr sz="1500">
                <a:solidFill>
                  <a:srgbClr val="000000"/>
                </a:solidFill>
                <a:latin typeface="Times New Roman"/>
              </a:defRPr>
            </a:pPr>
          </a:p>
          <a:p>
            <a:pPr>
              <a:spcAft>
                <a:spcPts val="800"/>
              </a:spcAft>
              <a:defRPr sz="1500">
                <a:solidFill>
                  <a:srgbClr val="000000"/>
                </a:solidFill>
                <a:latin typeface="Times New Roman"/>
              </a:defRPr>
            </a:pPr>
            <a:r>
              <a:t>[W1] https://en.wikipedia.org/wiki/Advanced_Encryption_Standard</a:t>
            </a:r>
          </a:p>
          <a:p>
            <a:pPr>
              <a:spcAft>
                <a:spcPts val="800"/>
              </a:spcAft>
              <a:defRPr sz="1500">
                <a:solidFill>
                  <a:srgbClr val="000000"/>
                </a:solidFill>
                <a:latin typeface="Times New Roman"/>
              </a:defRPr>
            </a:pPr>
            <a:r>
              <a:t>[W2] https://en.wikipedia.org/wiki/Salsa20#ChaCha_variant</a:t>
            </a:r>
          </a:p>
          <a:p>
            <a:pPr>
              <a:spcAft>
                <a:spcPts val="800"/>
              </a:spcAft>
              <a:defRPr sz="1500">
                <a:solidFill>
                  <a:srgbClr val="000000"/>
                </a:solidFill>
                <a:latin typeface="Times New Roman"/>
              </a:defRPr>
            </a:pPr>
            <a:r>
              <a:t>[W3] https://en.wikipedia.org/wiki/PRESENT_(cipher)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286000"/>
            <a:ext cx="106984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800" b="1">
                <a:solidFill>
                  <a:srgbClr val="1E1E1E"/>
                </a:solidFill>
                <a:latin typeface="Times New Roman"/>
              </a:defRPr>
            </a:pPr>
            <a:r>
              <a:t>Thank You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3657600"/>
            <a:ext cx="10698480" cy="254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931920"/>
            <a:ext cx="10698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2563EB"/>
                </a:solidFill>
                <a:latin typeface="Times New Roman"/>
              </a:defRPr>
            </a:pPr>
            <a:r>
              <a:t>Performance Evaluation of Encryption Algorithms on Edge Devices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4572000"/>
            <a:ext cx="10698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0">
                <a:solidFill>
                  <a:srgbClr val="646464"/>
                </a:solidFill>
                <a:latin typeface="Times New Roman"/>
              </a:defRPr>
            </a:pPr>
            <a:r>
              <a:t>Ready for Q&amp;A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