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72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256032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1E1E"/>
                </a:solidFill>
                <a:latin typeface="Times New Roman"/>
              </a:defRPr>
            </a:pPr>
            <a:r>
              <a:t>Performance Evaluation of Encryption</a:t>
            </a:r>
            <a:br/>
            <a:r>
              <a:t>Algorithms on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563EB"/>
                </a:solidFill>
                <a:latin typeface="Times New Roman"/>
              </a:defRPr>
            </a:pPr>
            <a:r>
              <a:t>AES-256-GCM  |  ChaCha20-Poly1305  |  PRESENT  |  SPECK-64/128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6464"/>
                </a:solidFill>
                <a:latin typeface="Times New Roman"/>
              </a:defRPr>
            </a:pPr>
            <a:r>
              <a:t>Distributed Systems - Final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- Security Constraint: IoT edge devices (sensors, smart cameras, medical monitors) collect sensitive data that must be encrypted immediately before transmission.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- Hardware Constraint: Edge devices possess strictly limited CPU cycles, memory, and battery life.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- Conventional Problem: Traditional standard encryption (like full hardware AES) may exhaust the resources of ultra-constrained devices (e.g., simple RFID tags or microcontrollers).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Core Objective: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To conduct a rigorous comparative evaluation of standard versus lightweight encryption algorithms -- measuring latency, throughput, CPU utilization, and memory footprint -- to identify the optimal algorithm for diverse edge environments.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Justification for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Why is this problem important?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1. Explosive IoT Growth: By 2025, over 75 billion IoT devices are projected worldwide. Each device generates sensitive data requiring encryption.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2. Edge Security Gap: Most IoT breaches occur at the edge. Encrypting data at the source (not in the cloud) prevents man-in-the-middle interception during transmission.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3. Resource Mismatch: Standard AES requires dedicated hardware (AES-NI) that passive RFID tags and 8-bit microcontrollers simply do not have. Lightweight ciphers (PRESENT, SPECK) were specifically designed for these constraints.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4. No Universal Solution: There is no single 'best' algorithm -- the optimal choice depends on whether the device has hardware acceleration, how much RAM/ROM is available, and the acceptable latency budget.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5. Distributed Systems Relevance: In a real deployment, thousands of edge nodes must encrypt concurrently. Our benchmark measures not just individual cipher performance but system-wide scalability under parallel distributed workloads.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Literature Survey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Paper Title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Authors / Year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Contribution / Relevance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The Design of Rijndael: AES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Daemen &amp; Rijmen, 2002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Establishes AES block cipher. We use AES-256-GCM as industry-standard baseline.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ChaCha, a variant of Salsa20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Bernstein D.J., 2008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ChaCha20 stream cipher excels in software without hardware crypto instructions.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PRESENT: An Ultra-Lightweight Block Cipher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Bogdanov et al., CHES 2007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SPN cipher for extreme constraints (~1,570 GE). Benchmarks lowest hardware tier.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The SIMON and SPECK Families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Beaulieu et al., IACR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SPECK-64/128 ARX cipher by NSA. 24 cycles/byte on ARM Cortex microcontrollers.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Lightweight Crypto for IoT Devices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Thakor et al., IEEE Access 2021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Comparative framework for latency, throughput, memory. Our methodology mirrors this.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Literature Survey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Paper Title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Authors / Year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Contribution / Relevance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Wireless Sensor Networks: A Survey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Akyildiz et al., Comp. Networks 2002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Node count scales with area x density (N=AxD). Informs our distributed simulation.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Edge Computing: Vision and Challenges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Shi et al., IEEE IoT Journal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Defines edge computing paradigm. Justifies why encryption must occur at edge, not cloud.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The Internet of Things: A Survey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Li et al., Inf. Systems Frontiers 2015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Comprehensive IoT architecture survey. Validates our sensor data model and edge constraints.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Report on Lightweight Cryptography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McKay et al., NIST IR 8114,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NIST guidelines for lightweight crypto selection. Frames our algorithm comparison criteria.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Review of Lightweight Block Ciphers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Hatzivasilis et al., J. Crypto. Eng. 2018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Systematic review of PRESENT, SPECK, SIMON. Validates our from-scratch implementation approach.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Dataset Generation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Synthetic IoT Sensor Data: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We generate realistic JSON payloads mimicking IoT sensor telemetry streams.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Each record contains: timestamp, device_id, temperature_c, humidity_pct, pressure_hpa, light_lux, sensor_voltage, status.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Data Sizes Used: 1KB, 10KB, 100KB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- 1KB: Single sensor reading (~5 JSON records) -- typical RFID/smart card payload.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- 10KB: Small batch of readings (~50 records) -- typical for periodic sensor uploads.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- 100KB: Larger aggregated batch (~500 records) -- typical for edge gateway aggregation.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Generation Strategy: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Records are accumulated until the serialized JSON meets the target byte size.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Data is then padded or trimmed to exactly match the requested size.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The same data is used across all algorithms at each size for fair comparison.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Total Benchmark Matrix: 4 algorithms x 3 sizes x 5 iterations x 2 ops (enc+dec) = 120 runs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Overall Execution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1: Data Generation --&gt; generate_iot_data(size_bytes) creates synthetic IoT JSON payloads of exact target size.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2: Key Generation --&gt; Each algorithm module generates a cryptographic key (AES: 256-bit, ChaCha20: 256-bit, PRESENT: 80-bit, SPECK: 128-bit).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3: Benchmarked Encryption --&gt; BenchmarkProfiler context manager wraps encrypt(data, key). Captures wall-clock time, CPU%, peak memory, throughput.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4: Simulated Edge Transmission --&gt; 50ms delay injected between encrypt and decrypt to model real edge-to-cloud network latency.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5: Benchmarked Decryption --&gt; Same profiler wraps decrypt(nonce, ciphertext, tag, key). Integrity assertion: decrypted == original data.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6: Results Aggregation --&gt; All 120 measurements saved to CSV/JSON. Pandas aggregation computes averages. Matplotlib generates 6 comparison graphs.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Encryption Algorithm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426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AES-256-GCM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ChaCha20-Poly1305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PRESENT-80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SPECK-64/128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Cipher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Stream Cipher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Cipher (Lightweight)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Cipher (Lightweight)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SPN (SubBytes, ShiftRows, MixColumns)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ARX (Add, Rotate, XOR)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SPN (4-bit S-Box + P-Box)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ARX (Add, Rotate, XOR)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Size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128 bits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N/A (stream)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64 bits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64 bits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Key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256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256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80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128 bits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Rounds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20 quarter-rounds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Auth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GCM (GHASH)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Poly1305 MAC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CTR + HMAC-SHA256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CTR + HMAC-SHA256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Gate Count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~50,000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~38,000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~1,570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~2,400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Algorithm Methodology (Detailed)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AES-256-GCM: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- 14 rounds of SubBytes, ShiftRows, MixColumns, AddRoundKey.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GCM mode provides authenticated encryption.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Implemented via PyCryptodome (uses hardware AES-NI if available).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ChaCha20-Poly1305: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- 20 rounds of quarter-round ARX operations generate a keystream.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Plaintext XORed with keystream for encryption.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Poly1305 MAC provides authentication.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Implemented via PyCryptodome (optimized C backend).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PRESENT-80 (Built from scratch):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- 31 rounds on 64-bit blocks using 4-bit S-Box substitution + bit permutation (P-Box).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Wrapped in CTR mode for arbitrary-length payloads.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HMAC-SHA256 added for integrity (since PRESENT has no built-in authentication).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SPECK-64/128 (Built from scratch):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- 27 rounds using only bitwise rotation, modular addition, and XOR.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No S-Boxes: maximizes software efficiency on microcontrollers.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Wrapped in CTR mode + HMAC-SHA256 for AEAD-like behavior.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Key expansion generates 27 round keys from the 128-bit master key.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Throughput &amp; CPU 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00400"/>
          </a:xfrm>
          <a:prstGeom prst="rect">
            <a:avLst/>
          </a:prstGeom>
        </p:spPr>
      </p:pic>
      <p:pic>
        <p:nvPicPr>
          <p:cNvPr id="5" name="Picture 4" descr="cpu_u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AES achieves ~94 MB/s and ChaCha20 ~50 MB/s at 100KB. PRESENT and SPECK are orders of magnitude slower in pure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All algorithms show real measured CPU utilization (~88-179%) thanks to calibrated cpu_times() profiling.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Encryption &amp; Decryption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ncryption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00400"/>
          </a:xfrm>
          <a:prstGeom prst="rect">
            <a:avLst/>
          </a:prstGeom>
        </p:spPr>
      </p:pic>
      <p:pic>
        <p:nvPicPr>
          <p:cNvPr id="5" name="Picture 4" descr="decryption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PRESENT: ~127s for 100KB encryption. SPECK: ~5.6s for 100KB. AES: ~1.2ms, ChaCha20: ~2.1ms for 100KB.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Time scales linearly with data size for all algorithms, confirming O(n) complexity. Log-scale Y-axis used to show all bars.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Memory &amp; Summary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emory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00400"/>
          </a:xfrm>
          <a:prstGeom prst="rect">
            <a:avLst/>
          </a:prstGeom>
        </p:spPr>
      </p:pic>
      <p:pic>
        <p:nvPicPr>
          <p:cNvPr id="5" name="Picture 4" descr="summary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At 100KB: AES ~202KB, ChaCha20 ~201KB, PRESENT ~211KB, SPECK ~210KB peak memory.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Summary Table &amp; Best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1E1E"/>
                </a:solidFill>
                <a:latin typeface="Times New Roman"/>
              </a:defRPr>
            </a:pPr>
            <a:r>
              <a:t>Encryption Performance (averaged across 1KB, 10KB, 100KB -- 5 iterations each):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Time (ms)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CPU %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Memory (KB)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Throughput (MB/s)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Composite Score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AES-256-GCM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1.06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179.1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76.5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35.80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rPr dirty="0"/>
                        <a:t>6.0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ChaCha20-Poly1305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143.1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22.69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rPr dirty="0"/>
                        <a:t>7.0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PRESENT-80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48,294.17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88.6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78.8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14.0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SPECK-64/128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2,091.74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95.3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rPr dirty="0"/>
                        <a:t>13.0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Times New Roman"/>
              </a:defRPr>
            </a:pPr>
            <a:r>
              <a:t>Scoring: Each algorithm ranked 1-4 on throughput, latency, CPU, memory. Sum of ranks = composite score. Lower = better.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Times New Roman"/>
              </a:defRPr>
            </a:pPr>
            <a:r>
              <a:rPr dirty="0"/>
              <a:t>BEST OVERALL: AES-256-GCM (Score: 6.0)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Times New Roman"/>
              </a:defRPr>
            </a:pPr>
            <a:r>
              <a:t>- AES wins on latency &amp; throughput (hardware AES-NI). ChaCha20 is the best choice on devices without AES-NI hardware.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7563" y="301251"/>
            <a:ext cx="107924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rPr dirty="0"/>
              <a:t>Why Single-Node Benchmarking &amp; Distributed Systems?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Why Single-Node First?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1. Establishes the Baseline: You cannot measure distributed scalability without knowing what 1 node can do. Single-node results provide the denominator for the Scalability Factor.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2. Finds Optimal Packet Size: Testing 1KB, 10KB, 100KB reveals each algorithm's setup overhead vs. processing cost curve, identifying the ideal network packet size.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3. Proves Hardware Feasibility: Isolates exact CPU% and peak RAM per device, proving the algorithm is physically deployable on constrained IoT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Why Distributed Systems?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 dirty="0"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1. Real-World Scale: IoT deployments have thousands of nodes encrypting concurrently. A single-node test cannot capture inter-node overhead or parallel contention.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 dirty="0"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2. Scalability Proof: By distributing a fixed 100KB workload across N=5 to N=1000 nodes, we prove near-linear throughput scaling for AES/ChaCha20.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 dirty="0"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3. Data Sovereignty: Encrypting at the edge (not cloud) keeps plaintext off the network. This architecture tolerates compromised intermediate nodes.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endParaRPr dirty="0"/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4. Key Finding: AES/ChaCha20 scale almost perfectly. PRESENT/SPECK's process overhead exceeds their encryption time at high node counts.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Scalability &amp; Distributed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alabilit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616952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563EB"/>
                </a:solidFill>
                <a:latin typeface="Times New Roman"/>
              </a:defRPr>
            </a:pPr>
            <a:r>
              <a:t>System scalability remains nearly linear as the number of nodes increases (N = 5 to 1000).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Conclusion: Where Each Algorithm Excels &amp;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Fails When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AES-256-GCM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High-performance edge nodes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(Raspberry Pi, x86 with AES-NI)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Ultra-constrained devices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(passive RFID, 8-bit MCUs)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Requires ~50,000 GE and dedicated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hardware instructions (AES-NI) for speed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ChaCha20-Poly1305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Software-only ARM/RISC-V MCUs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(no crypto hardware needed)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Extreme gate-count limits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(needs ~38,000 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Pure ARX ops are fast in software but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still require moderate silicon area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PRESENT-80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Passive RFID, smart cards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(needs only ~1,570 GE)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Any payload &gt;1KB in software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(~375ms per 1KB, ~37s per 100KB)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Designed for hardware ASIC, not software.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31 rounds of 4-bit S-Box are slow in Python.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SPECK-64/128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Constrained MCUs needing speed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(24 cycles/byte on ARM Cortex)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Large payloads in pure Python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(~1.7s per 100KB)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Optimized for C/ASM on MCUs. Python's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interpreter overhead negates ARX advantages.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References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[1] Daemen, J. &amp; Rijmen, V. (2002). "The Design of Rijndael: AES." Springer.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[2] Bernstein, D.J. (2008). "ChaCha, a variant of Salsa20." SASC 2008.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[3] Bogdanov, A. et al. (2007). "PRESENT: An Ultra-Lightweight Block Cipher." CHES 2007, LNCS 4727.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[4] Beaulieu, R. et al. (2013). "The SIMON and SPECK Families of Lightweight Block Ciphers." IACR ePrint 2013/404.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[5] Thakor, V. et al. (2021). "Lightweight Cryptography Algorithms for Resource-Constrained IoT Devices." IEEE Access, Vol. 9.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[6] Akyildiz, I.F. et al. (2002). "Wireless Sensor Networks: A Survey." Computer Networks, Vol. 38(4).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[7] Shi, W. et al. (2016). "Edge Computing: Vision and Challenges." IEEE Internet of Things Journal, 3(5).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[8] Li, S. et al. (2015). "The Internet of Things: A Survey." Information Systems Frontiers, 17(2).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[9] McKay, K. et al. (2017). "Report on Lightweight Cryptography." NIST Internal Report 8114.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[10] Hatzivasilis, G. et al. (2018). "Review of Lightweight Block Ciphers." Journal of Cryptographic Engineering, 8(2).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References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Wikipedia / Online References: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endParaRPr/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[W1] https://en.wikipedia.org/wiki/Advanced_Encryption_Standard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[W2] https://en.wikipedia.org/wiki/Salsa20#ChaCha_variant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[W3] https://en.wikipedia.org/wiki/PRESENT_(cipher)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1E1E"/>
                </a:solidFill>
                <a:latin typeface="Times New Roman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65760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563EB"/>
                </a:solidFill>
                <a:latin typeface="Times New Roman"/>
              </a:defRPr>
            </a:pPr>
            <a:r>
              <a:t>Performance Evaluation of Encryption Algorithms on Edge Devices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46464"/>
                </a:solidFill>
                <a:latin typeface="Times New Roman"/>
              </a:defRPr>
            </a:pPr>
            <a:r>
              <a:t>Ready for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2285</Words>
  <Application>Microsoft Office PowerPoint</Application>
  <PresentationFormat>Widescreen</PresentationFormat>
  <Paragraphs>278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Siva Rama Krishna Reddy Padala</cp:lastModifiedBy>
  <cp:revision>3</cp:revision>
  <dcterms:created xsi:type="dcterms:W3CDTF">2013-01-27T09:14:16Z</dcterms:created>
  <dcterms:modified xsi:type="dcterms:W3CDTF">2026-04-27T18:59:34Z</dcterms:modified>
  <cp:category/>
</cp:coreProperties>
</file>